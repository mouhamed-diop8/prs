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mbria Bold" charset="1" panose="02040803050406030204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  <p:embeddedFont>
      <p:font typeface="Calibri (MS) Italics" charset="1" panose="020F05020202040A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1546843" cy="10312403"/>
            <a:chOff x="0" y="0"/>
            <a:chExt cx="153957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9582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15395829">
                  <a:moveTo>
                    <a:pt x="0" y="0"/>
                  </a:moveTo>
                  <a:lnTo>
                    <a:pt x="15395829" y="0"/>
                  </a:lnTo>
                  <a:lnTo>
                    <a:pt x="1539582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1554480"/>
            <a:ext cx="10058400" cy="3291840"/>
            <a:chOff x="0" y="0"/>
            <a:chExt cx="13411200" cy="4389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112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3411200" cy="439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Prédiction de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Souscription Client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4974336"/>
            <a:ext cx="10058400" cy="548640"/>
            <a:chOff x="0" y="0"/>
            <a:chExt cx="13411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41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Bank Marketing Dataset  ·  UCI Machine Learning Repository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3143" y="5766311"/>
            <a:ext cx="9900923" cy="43691"/>
            <a:chOff x="0" y="0"/>
            <a:chExt cx="1320123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01269" cy="58293"/>
            </a:xfrm>
            <a:custGeom>
              <a:avLst/>
              <a:gdLst/>
              <a:ahLst/>
              <a:cxnLst/>
              <a:rect r="r" b="b" t="t" l="l"/>
              <a:pathLst>
                <a:path h="58293" w="13201269">
                  <a:moveTo>
                    <a:pt x="0" y="0"/>
                  </a:moveTo>
                  <a:lnTo>
                    <a:pt x="13201269" y="0"/>
                  </a:lnTo>
                  <a:lnTo>
                    <a:pt x="1320126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6035040"/>
            <a:ext cx="10058400" cy="512064"/>
            <a:chOff x="0" y="0"/>
            <a:chExt cx="1341120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1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411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Régression Logistique  ·  Random Forest  ·  CNN 1D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" y="9290304"/>
            <a:ext cx="10058400" cy="512064"/>
            <a:chOff x="0" y="0"/>
            <a:chExt cx="134112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411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9999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Moro et al. (2014). Decision Support Systems, 62, 22-31.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87200" y="768096"/>
            <a:ext cx="5943600" cy="1316736"/>
            <a:chOff x="0" y="0"/>
            <a:chExt cx="7924800" cy="1755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248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924800" cy="17746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5 000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887200" y="2083308"/>
            <a:ext cx="59436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instances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887200" y="2999232"/>
            <a:ext cx="5943600" cy="1316736"/>
            <a:chOff x="0" y="0"/>
            <a:chExt cx="7924800" cy="17556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248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924800" cy="17746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887200" y="4314444"/>
            <a:ext cx="59436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887200" y="5230368"/>
            <a:ext cx="5943600" cy="1316736"/>
            <a:chOff x="0" y="0"/>
            <a:chExt cx="7924800" cy="17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248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924800" cy="17746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887200" y="6545580"/>
            <a:ext cx="59436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classes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887200" y="7461504"/>
            <a:ext cx="5943600" cy="1316736"/>
            <a:chOff x="0" y="0"/>
            <a:chExt cx="7924800" cy="17556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248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53" r="0" b="-379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7924800" cy="17746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7,7 %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887200" y="8776716"/>
            <a:ext cx="59436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taux souscription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7507" y="7471029"/>
            <a:ext cx="781515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888888"/>
                </a:solidFill>
                <a:latin typeface="Cambria Bold"/>
                <a:ea typeface="Cambria Bold"/>
                <a:cs typeface="Cambria Bold"/>
                <a:sym typeface="Cambria Bold"/>
              </a:rPr>
              <a:t>DIOP Mouhamed , DIALLO Samba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CONTEXTE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Quel problème cherche-t-on à résoudre 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" y="2851404"/>
            <a:ext cx="795528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Une banque portugaise contacte ses clients par téléphone pour leur proposer un dépôt à terme. L'objectif est de prédire si un client va souscrire.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4572000"/>
            <a:ext cx="7955280" cy="548640"/>
            <a:chOff x="0" y="0"/>
            <a:chExt cx="106070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0607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Objectif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5155692"/>
            <a:ext cx="7955280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Prédire y ∈ {0, 1} à partir de 20 variables.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Classification binaire.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400" y="6400800"/>
            <a:ext cx="7955280" cy="512064"/>
            <a:chOff x="0" y="0"/>
            <a:chExt cx="1060704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713" r="0" b="-25271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6070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binaire  ·  Variable cible : y ∈ {0, 1}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22743" y="2876807"/>
            <a:ext cx="43691" cy="6060443"/>
            <a:chOff x="0" y="0"/>
            <a:chExt cx="58255" cy="80805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293" cy="8080629"/>
            </a:xfrm>
            <a:custGeom>
              <a:avLst/>
              <a:gdLst/>
              <a:ahLst/>
              <a:cxnLst/>
              <a:rect r="r" b="b" t="t" l="l"/>
              <a:pathLst>
                <a:path h="8080629" w="58293">
                  <a:moveTo>
                    <a:pt x="0" y="0"/>
                  </a:moveTo>
                  <a:lnTo>
                    <a:pt x="58293" y="0"/>
                  </a:lnTo>
                  <a:lnTo>
                    <a:pt x="58293" y="8080629"/>
                  </a:lnTo>
                  <a:lnTo>
                    <a:pt x="0" y="8080629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01200" y="2926080"/>
            <a:ext cx="7772400" cy="512064"/>
            <a:chOff x="0" y="0"/>
            <a:chExt cx="1036320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03632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Client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01200" y="3454908"/>
            <a:ext cx="7772400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âge, métier, situation familiale,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éducation, crédit immobilier, prêt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01200" y="4974336"/>
            <a:ext cx="7772400" cy="512064"/>
            <a:chOff x="0" y="0"/>
            <a:chExt cx="103632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03632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Campagne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601200" y="5503164"/>
            <a:ext cx="7772400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durée appel, mois, type de contact,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nombre de contacts, résultat précédent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01200" y="7022592"/>
            <a:ext cx="7772400" cy="512064"/>
            <a:chOff x="0" y="0"/>
            <a:chExt cx="1036320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03632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Économique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601200" y="7551420"/>
            <a:ext cx="7772400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Euribor 3 mois, taux emploi,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indice de confiance consommateurs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01200" y="8959596"/>
            <a:ext cx="7772400" cy="55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i="true">
                <a:solidFill>
                  <a:srgbClr val="9999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20 variables  ·  5 000 instances  ·  aucune valeur manquante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ANALYSE EXPLORATOIRE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Les données révèlent déjà beaucoup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52928"/>
            <a:ext cx="16459200" cy="6547104"/>
            <a:chOff x="0" y="0"/>
            <a:chExt cx="21945600" cy="872947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1945600" cy="8729472"/>
            </a:xfrm>
            <a:custGeom>
              <a:avLst/>
              <a:gdLst/>
              <a:ahLst/>
              <a:cxnLst/>
              <a:rect r="r" b="b" t="t" l="l"/>
              <a:pathLst>
                <a:path h="87294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29472"/>
                  </a:lnTo>
                  <a:lnTo>
                    <a:pt x="0" y="8729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89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9692640"/>
            <a:ext cx="16459200" cy="365760"/>
            <a:chOff x="0" y="0"/>
            <a:chExt cx="21945600" cy="487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94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9999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Gauche : fort déséquilibre (92,3 % non-souscription).  Droite : les souscripteurs ont une durée d'appel médiane sensiblement plus longue (415 s vs 258 s).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ANALYSE EXPLORATOIRE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Tous les profils ne se ressemblent pas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52928"/>
            <a:ext cx="16459200" cy="6547104"/>
            <a:chOff x="0" y="0"/>
            <a:chExt cx="21945600" cy="872947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1945600" cy="8729472"/>
            </a:xfrm>
            <a:custGeom>
              <a:avLst/>
              <a:gdLst/>
              <a:ahLst/>
              <a:cxnLst/>
              <a:rect r="r" b="b" t="t" l="l"/>
              <a:pathLst>
                <a:path h="87294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29472"/>
                  </a:lnTo>
                  <a:lnTo>
                    <a:pt x="0" y="8729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483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9692640"/>
            <a:ext cx="16459200" cy="365760"/>
            <a:chOff x="0" y="0"/>
            <a:chExt cx="21945600" cy="487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94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9999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Les retraités et étudiants ont les taux de souscription les plus élevés. Le métier est une variable utile pour cibler les campagnes.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PRÉTRAITEMENT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Pipeline de préparation des données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56567" y="2931671"/>
            <a:ext cx="3865883" cy="4688843"/>
            <a:chOff x="0" y="0"/>
            <a:chExt cx="5154511" cy="6251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4549" cy="6251829"/>
            </a:xfrm>
            <a:custGeom>
              <a:avLst/>
              <a:gdLst/>
              <a:ahLst/>
              <a:cxnLst/>
              <a:rect r="r" b="b" t="t" l="l"/>
              <a:pathLst>
                <a:path h="6251829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6251829"/>
                  </a:lnTo>
                  <a:lnTo>
                    <a:pt x="0" y="6251829"/>
                  </a:lnTo>
                  <a:close/>
                </a:path>
              </a:pathLst>
            </a:custGeom>
            <a:solidFill>
              <a:srgbClr val="DEDEDD"/>
            </a:solidFill>
            <a:ln w="25400" cap="sq">
              <a:solidFill>
                <a:srgbClr val="DEDED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08047" y="2883151"/>
            <a:ext cx="3853177" cy="4676137"/>
            <a:chOff x="0" y="0"/>
            <a:chExt cx="5137569" cy="62348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37531" cy="6234811"/>
            </a:xfrm>
            <a:custGeom>
              <a:avLst/>
              <a:gdLst/>
              <a:ahLst/>
              <a:cxnLst/>
              <a:rect r="r" b="b" t="t" l="l"/>
              <a:pathLst>
                <a:path h="623481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6234811"/>
                  </a:lnTo>
                  <a:lnTo>
                    <a:pt x="0" y="6234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3145536"/>
            <a:ext cx="3840480" cy="1005840"/>
            <a:chOff x="0" y="0"/>
            <a:chExt cx="512064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1206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3856" y="4279392"/>
            <a:ext cx="3401568" cy="950976"/>
            <a:chOff x="0" y="0"/>
            <a:chExt cx="4535424" cy="12679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35424" cy="1267968"/>
            </a:xfrm>
            <a:custGeom>
              <a:avLst/>
              <a:gdLst/>
              <a:ahLst/>
              <a:cxnLst/>
              <a:rect r="r" b="b" t="t" l="l"/>
              <a:pathLst>
                <a:path h="1267968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96" r="0" b="-1969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535424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Label Encoding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67463" y="5290823"/>
            <a:ext cx="3134363" cy="43691"/>
            <a:chOff x="0" y="0"/>
            <a:chExt cx="4179151" cy="582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79189" cy="58293"/>
            </a:xfrm>
            <a:custGeom>
              <a:avLst/>
              <a:gdLst/>
              <a:ahLst/>
              <a:cxnLst/>
              <a:rect r="r" b="b" t="t" l="l"/>
              <a:pathLst>
                <a:path h="5829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097280" y="5511927"/>
            <a:ext cx="34747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10 variables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catégorielles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→ entiers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815335" y="5199383"/>
            <a:ext cx="244859" cy="43691"/>
            <a:chOff x="0" y="0"/>
            <a:chExt cx="326479" cy="58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6517" cy="58293"/>
            </a:xfrm>
            <a:custGeom>
              <a:avLst/>
              <a:gdLst/>
              <a:ahLst/>
              <a:cxnLst/>
              <a:rect r="r" b="b" t="t" l="l"/>
              <a:pathLst>
                <a:path h="58293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999999"/>
            </a:solidFill>
            <a:ln w="25400" cap="sq">
              <a:solidFill>
                <a:srgbClr val="99999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162807" y="2931671"/>
            <a:ext cx="3865883" cy="4688843"/>
            <a:chOff x="0" y="0"/>
            <a:chExt cx="5154511" cy="62517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54549" cy="6251829"/>
            </a:xfrm>
            <a:custGeom>
              <a:avLst/>
              <a:gdLst/>
              <a:ahLst/>
              <a:cxnLst/>
              <a:rect r="r" b="b" t="t" l="l"/>
              <a:pathLst>
                <a:path h="6251829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6251829"/>
                  </a:lnTo>
                  <a:lnTo>
                    <a:pt x="0" y="6251829"/>
                  </a:lnTo>
                  <a:close/>
                </a:path>
              </a:pathLst>
            </a:custGeom>
            <a:solidFill>
              <a:srgbClr val="DEDEDD"/>
            </a:solidFill>
            <a:ln w="25400" cap="sq">
              <a:solidFill>
                <a:srgbClr val="DEDEDD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114287" y="2883151"/>
            <a:ext cx="3853177" cy="4676137"/>
            <a:chOff x="0" y="0"/>
            <a:chExt cx="5137569" cy="623484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37531" cy="6234811"/>
            </a:xfrm>
            <a:custGeom>
              <a:avLst/>
              <a:gdLst/>
              <a:ahLst/>
              <a:cxnLst/>
              <a:rect r="r" b="b" t="t" l="l"/>
              <a:pathLst>
                <a:path h="623481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6234811"/>
                  </a:lnTo>
                  <a:lnTo>
                    <a:pt x="0" y="6234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120640" y="3145536"/>
            <a:ext cx="3840480" cy="1005840"/>
            <a:chOff x="0" y="0"/>
            <a:chExt cx="512064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1206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340096" y="4279392"/>
            <a:ext cx="3401568" cy="950976"/>
            <a:chOff x="0" y="0"/>
            <a:chExt cx="4535424" cy="12679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35424" cy="1267968"/>
            </a:xfrm>
            <a:custGeom>
              <a:avLst/>
              <a:gdLst/>
              <a:ahLst/>
              <a:cxnLst/>
              <a:rect r="r" b="b" t="t" l="l"/>
              <a:pathLst>
                <a:path h="1267968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96" r="0" b="-1969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535424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Train / Test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473703" y="5290823"/>
            <a:ext cx="3134363" cy="43691"/>
            <a:chOff x="0" y="0"/>
            <a:chExt cx="4179151" cy="582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79189" cy="58293"/>
            </a:xfrm>
            <a:custGeom>
              <a:avLst/>
              <a:gdLst/>
              <a:ahLst/>
              <a:cxnLst/>
              <a:rect r="r" b="b" t="t" l="l"/>
              <a:pathLst>
                <a:path h="5829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5303520" y="5511927"/>
            <a:ext cx="34747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80 % train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20 % test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stratifié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021575" y="5199383"/>
            <a:ext cx="244859" cy="43691"/>
            <a:chOff x="0" y="0"/>
            <a:chExt cx="326479" cy="582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6517" cy="58293"/>
            </a:xfrm>
            <a:custGeom>
              <a:avLst/>
              <a:gdLst/>
              <a:ahLst/>
              <a:cxnLst/>
              <a:rect r="r" b="b" t="t" l="l"/>
              <a:pathLst>
                <a:path h="58293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999999"/>
            </a:solidFill>
            <a:ln w="25400" cap="sq">
              <a:solidFill>
                <a:srgbClr val="999999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369047" y="2931671"/>
            <a:ext cx="3865883" cy="4688843"/>
            <a:chOff x="0" y="0"/>
            <a:chExt cx="5154511" cy="62517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54549" cy="6251829"/>
            </a:xfrm>
            <a:custGeom>
              <a:avLst/>
              <a:gdLst/>
              <a:ahLst/>
              <a:cxnLst/>
              <a:rect r="r" b="b" t="t" l="l"/>
              <a:pathLst>
                <a:path h="6251829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6251829"/>
                  </a:lnTo>
                  <a:lnTo>
                    <a:pt x="0" y="6251829"/>
                  </a:lnTo>
                  <a:close/>
                </a:path>
              </a:pathLst>
            </a:custGeom>
            <a:solidFill>
              <a:srgbClr val="DEDEDD"/>
            </a:solidFill>
            <a:ln w="25400" cap="sq">
              <a:solidFill>
                <a:srgbClr val="DEDED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320527" y="2883151"/>
            <a:ext cx="3853177" cy="4676137"/>
            <a:chOff x="0" y="0"/>
            <a:chExt cx="5137569" cy="623484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37531" cy="6234811"/>
            </a:xfrm>
            <a:custGeom>
              <a:avLst/>
              <a:gdLst/>
              <a:ahLst/>
              <a:cxnLst/>
              <a:rect r="r" b="b" t="t" l="l"/>
              <a:pathLst>
                <a:path h="623481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6234811"/>
                  </a:lnTo>
                  <a:lnTo>
                    <a:pt x="0" y="6234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326880" y="3145536"/>
            <a:ext cx="3840480" cy="1005840"/>
            <a:chOff x="0" y="0"/>
            <a:chExt cx="5120640" cy="13411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1206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46336" y="4279392"/>
            <a:ext cx="3401568" cy="950976"/>
            <a:chOff x="0" y="0"/>
            <a:chExt cx="4535424" cy="12679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35424" cy="1267968"/>
            </a:xfrm>
            <a:custGeom>
              <a:avLst/>
              <a:gdLst/>
              <a:ahLst/>
              <a:cxnLst/>
              <a:rect r="r" b="b" t="t" l="l"/>
              <a:pathLst>
                <a:path h="1267968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96" r="0" b="-1969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535424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SMOTE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79943" y="5290823"/>
            <a:ext cx="3134363" cy="43691"/>
            <a:chOff x="0" y="0"/>
            <a:chExt cx="4179151" cy="5825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79189" cy="58293"/>
            </a:xfrm>
            <a:custGeom>
              <a:avLst/>
              <a:gdLst/>
              <a:ahLst/>
              <a:cxnLst/>
              <a:rect r="r" b="b" t="t" l="l"/>
              <a:pathLst>
                <a:path h="5829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9509760" y="5511927"/>
            <a:ext cx="34747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Synthèse de la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classe minoritaire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sur le train set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3227815" y="5199383"/>
            <a:ext cx="244859" cy="43691"/>
            <a:chOff x="0" y="0"/>
            <a:chExt cx="326479" cy="5825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6517" cy="58293"/>
            </a:xfrm>
            <a:custGeom>
              <a:avLst/>
              <a:gdLst/>
              <a:ahLst/>
              <a:cxnLst/>
              <a:rect r="r" b="b" t="t" l="l"/>
              <a:pathLst>
                <a:path h="58293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999999"/>
            </a:solidFill>
            <a:ln w="25400" cap="sq">
              <a:solidFill>
                <a:srgbClr val="99999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3575287" y="2931671"/>
            <a:ext cx="3865883" cy="4688843"/>
            <a:chOff x="0" y="0"/>
            <a:chExt cx="5154511" cy="625179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54549" cy="6251829"/>
            </a:xfrm>
            <a:custGeom>
              <a:avLst/>
              <a:gdLst/>
              <a:ahLst/>
              <a:cxnLst/>
              <a:rect r="r" b="b" t="t" l="l"/>
              <a:pathLst>
                <a:path h="6251829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6251829"/>
                  </a:lnTo>
                  <a:lnTo>
                    <a:pt x="0" y="6251829"/>
                  </a:lnTo>
                  <a:close/>
                </a:path>
              </a:pathLst>
            </a:custGeom>
            <a:solidFill>
              <a:srgbClr val="DEDEDD"/>
            </a:solidFill>
            <a:ln w="25400" cap="sq">
              <a:solidFill>
                <a:srgbClr val="DEDEDD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3526767" y="2883151"/>
            <a:ext cx="3853177" cy="4676137"/>
            <a:chOff x="0" y="0"/>
            <a:chExt cx="5137569" cy="623484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37531" cy="6234811"/>
            </a:xfrm>
            <a:custGeom>
              <a:avLst/>
              <a:gdLst/>
              <a:ahLst/>
              <a:cxnLst/>
              <a:rect r="r" b="b" t="t" l="l"/>
              <a:pathLst>
                <a:path h="623481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6234811"/>
                  </a:lnTo>
                  <a:lnTo>
                    <a:pt x="0" y="6234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533120" y="3145536"/>
            <a:ext cx="3840480" cy="1005840"/>
            <a:chOff x="0" y="0"/>
            <a:chExt cx="5120640" cy="13411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51206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752576" y="4279392"/>
            <a:ext cx="3401568" cy="950976"/>
            <a:chOff x="0" y="0"/>
            <a:chExt cx="4535424" cy="12679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535424" cy="1267968"/>
            </a:xfrm>
            <a:custGeom>
              <a:avLst/>
              <a:gdLst/>
              <a:ahLst/>
              <a:cxnLst/>
              <a:rect r="r" b="b" t="t" l="l"/>
              <a:pathLst>
                <a:path h="1267968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96" r="0" b="-1969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4535424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StandardScaler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886183" y="5290823"/>
            <a:ext cx="3134363" cy="43691"/>
            <a:chOff x="0" y="0"/>
            <a:chExt cx="4179151" cy="5825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179189" cy="58293"/>
            </a:xfrm>
            <a:custGeom>
              <a:avLst/>
              <a:gdLst/>
              <a:ahLst/>
              <a:cxnLst/>
              <a:rect r="r" b="b" t="t" l="l"/>
              <a:pathLst>
                <a:path h="5829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69" id="69"/>
          <p:cNvSpPr txBox="true"/>
          <p:nvPr/>
        </p:nvSpPr>
        <p:spPr>
          <a:xfrm rot="0">
            <a:off x="13716000" y="5511927"/>
            <a:ext cx="34747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Centrage-réduction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μ = 0,  σ = 1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fit sur train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14400" y="7863840"/>
            <a:ext cx="16459200" cy="548640"/>
            <a:chOff x="0" y="0"/>
            <a:chExt cx="2194560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⚠  SMOTE est appliqué uniquement sur le train set — le test set conserve la distribution réelle (7,7 % vs 92,3 %)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MODÈLES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Trois approches complémentaires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2840231"/>
            <a:ext cx="5182619" cy="98555"/>
            <a:chOff x="0" y="0"/>
            <a:chExt cx="6910159" cy="1314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10197" cy="131445"/>
            </a:xfrm>
            <a:custGeom>
              <a:avLst/>
              <a:gdLst/>
              <a:ahLst/>
              <a:cxnLst/>
              <a:rect r="r" b="b" t="t" l="l"/>
              <a:pathLst>
                <a:path h="131445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3108960"/>
            <a:ext cx="5157216" cy="1316736"/>
            <a:chOff x="0" y="0"/>
            <a:chExt cx="6876288" cy="1755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762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876288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Régression</a:t>
              </a:r>
            </a:p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Logistique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572000"/>
            <a:ext cx="5157216" cy="475488"/>
            <a:chOff x="0" y="0"/>
            <a:chExt cx="6876288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76288" cy="633984"/>
            </a:xfrm>
            <a:custGeom>
              <a:avLst/>
              <a:gdLst/>
              <a:ahLst/>
              <a:cxnLst/>
              <a:rect r="r" b="b" t="t" l="l"/>
              <a:pathLst>
                <a:path h="633984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337" r="0" b="-1613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87628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 de référence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1703" y="5107943"/>
            <a:ext cx="5182619" cy="43691"/>
            <a:chOff x="0" y="0"/>
            <a:chExt cx="6910159" cy="58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10197" cy="58293"/>
            </a:xfrm>
            <a:custGeom>
              <a:avLst/>
              <a:gdLst/>
              <a:ahLst/>
              <a:cxnLst/>
              <a:rect r="r" b="b" t="t" l="l"/>
              <a:pathLst>
                <a:path h="58293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14400" y="5292471"/>
            <a:ext cx="5157216" cy="425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Modèle linéaire interprétable.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Modélise P(y=1|x) via la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fonction sigmoïde.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Paramètres :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class_weight = balanced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max_iter = 1 000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solver = lbfgs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278375" y="2840231"/>
            <a:ext cx="43691" cy="6828539"/>
            <a:chOff x="0" y="0"/>
            <a:chExt cx="58255" cy="91047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293" cy="9104757"/>
            </a:xfrm>
            <a:custGeom>
              <a:avLst/>
              <a:gdLst/>
              <a:ahLst/>
              <a:cxnLst/>
              <a:rect r="r" b="b" t="t" l="l"/>
              <a:pathLst>
                <a:path h="9104757" w="58293">
                  <a:moveTo>
                    <a:pt x="0" y="0"/>
                  </a:moveTo>
                  <a:lnTo>
                    <a:pt x="58293" y="0"/>
                  </a:lnTo>
                  <a:lnTo>
                    <a:pt x="58293" y="9104757"/>
                  </a:lnTo>
                  <a:lnTo>
                    <a:pt x="0" y="9104757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552695" y="2840231"/>
            <a:ext cx="5182619" cy="98555"/>
            <a:chOff x="0" y="0"/>
            <a:chExt cx="6910159" cy="1314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10197" cy="131445"/>
            </a:xfrm>
            <a:custGeom>
              <a:avLst/>
              <a:gdLst/>
              <a:ahLst/>
              <a:cxnLst/>
              <a:rect r="r" b="b" t="t" l="l"/>
              <a:pathLst>
                <a:path h="131445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565392" y="3108960"/>
            <a:ext cx="5157216" cy="1316736"/>
            <a:chOff x="0" y="0"/>
            <a:chExt cx="6876288" cy="17556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762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876288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Random</a:t>
              </a:r>
            </a:p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Forest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65392" y="4572000"/>
            <a:ext cx="5157216" cy="475488"/>
            <a:chOff x="0" y="0"/>
            <a:chExt cx="6876288" cy="6339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76288" cy="633984"/>
            </a:xfrm>
            <a:custGeom>
              <a:avLst/>
              <a:gdLst/>
              <a:ahLst/>
              <a:cxnLst/>
              <a:rect r="r" b="b" t="t" l="l"/>
              <a:pathLst>
                <a:path h="633984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337" r="0" b="-16133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87628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Apprentissage d'ensemble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552695" y="5107943"/>
            <a:ext cx="5182619" cy="43691"/>
            <a:chOff x="0" y="0"/>
            <a:chExt cx="6910159" cy="582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10197" cy="58293"/>
            </a:xfrm>
            <a:custGeom>
              <a:avLst/>
              <a:gdLst/>
              <a:ahLst/>
              <a:cxnLst/>
              <a:rect r="r" b="b" t="t" l="l"/>
              <a:pathLst>
                <a:path h="58293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6565392" y="5292471"/>
            <a:ext cx="5157216" cy="425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100 arbres de décision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entraînés sur des sous-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échantillons (bagging).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Votes majoritaires.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Paramètres :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100 estimateurs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max_depth = 10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class_weight = balanced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929367" y="2840231"/>
            <a:ext cx="43691" cy="6828539"/>
            <a:chOff x="0" y="0"/>
            <a:chExt cx="58255" cy="91047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293" cy="9104757"/>
            </a:xfrm>
            <a:custGeom>
              <a:avLst/>
              <a:gdLst/>
              <a:ahLst/>
              <a:cxnLst/>
              <a:rect r="r" b="b" t="t" l="l"/>
              <a:pathLst>
                <a:path h="9104757" w="58293">
                  <a:moveTo>
                    <a:pt x="0" y="0"/>
                  </a:moveTo>
                  <a:lnTo>
                    <a:pt x="58293" y="0"/>
                  </a:lnTo>
                  <a:lnTo>
                    <a:pt x="58293" y="9104757"/>
                  </a:lnTo>
                  <a:lnTo>
                    <a:pt x="0" y="9104757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203687" y="2840231"/>
            <a:ext cx="5182619" cy="98555"/>
            <a:chOff x="0" y="0"/>
            <a:chExt cx="6910159" cy="13140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10197" cy="131445"/>
            </a:xfrm>
            <a:custGeom>
              <a:avLst/>
              <a:gdLst/>
              <a:ahLst/>
              <a:cxnLst/>
              <a:rect r="r" b="b" t="t" l="l"/>
              <a:pathLst>
                <a:path h="131445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216384" y="3108960"/>
            <a:ext cx="5157216" cy="1316736"/>
            <a:chOff x="0" y="0"/>
            <a:chExt cx="6876288" cy="17556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762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876288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CNN 1D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16384" y="4572000"/>
            <a:ext cx="5157216" cy="475488"/>
            <a:chOff x="0" y="0"/>
            <a:chExt cx="6876288" cy="6339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76288" cy="633984"/>
            </a:xfrm>
            <a:custGeom>
              <a:avLst/>
              <a:gdLst/>
              <a:ahLst/>
              <a:cxnLst/>
              <a:rect r="r" b="b" t="t" l="l"/>
              <a:pathLst>
                <a:path h="633984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337" r="0" b="-16133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87628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203687" y="5107943"/>
            <a:ext cx="5182619" cy="43691"/>
            <a:chOff x="0" y="0"/>
            <a:chExt cx="6910159" cy="5825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910197" cy="58293"/>
            </a:xfrm>
            <a:custGeom>
              <a:avLst/>
              <a:gdLst/>
              <a:ahLst/>
              <a:cxnLst/>
              <a:rect r="r" b="b" t="t" l="l"/>
              <a:pathLst>
                <a:path h="58293" w="6910197">
                  <a:moveTo>
                    <a:pt x="0" y="0"/>
                  </a:moveTo>
                  <a:lnTo>
                    <a:pt x="6910197" y="0"/>
                  </a:lnTo>
                  <a:lnTo>
                    <a:pt x="6910197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2216384" y="5292471"/>
            <a:ext cx="5157216" cy="425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Convolutions 1D sur les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features réinterprétées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comme séquence.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Architecture :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Conv1D(64) → Conv1D(32)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GlobalAvgPool → Dense(64)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Dropout(0.3) → Sigmoid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30 epochs · batch 64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ÉVALUATION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Qui détecte vraiment les clients intéressés 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9546336"/>
            <a:ext cx="16459200" cy="365760"/>
            <a:chOff x="0" y="0"/>
            <a:chExt cx="21945600" cy="487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945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9999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 Régression Logistique détecte 32 vrais positifs (Recall 41,6 %) — bien plus que la Random Forest (13) ou le CNN (7).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289811" y="3354005"/>
            <a:ext cx="13708378" cy="5466216"/>
          </a:xfrm>
          <a:custGeom>
            <a:avLst/>
            <a:gdLst/>
            <a:ahLst/>
            <a:cxnLst/>
            <a:rect r="r" b="b" t="t" l="l"/>
            <a:pathLst>
              <a:path h="5466216" w="13708378">
                <a:moveTo>
                  <a:pt x="0" y="0"/>
                </a:moveTo>
                <a:lnTo>
                  <a:pt x="13708378" y="0"/>
                </a:lnTo>
                <a:lnTo>
                  <a:pt x="13708378" y="5466216"/>
                </a:lnTo>
                <a:lnTo>
                  <a:pt x="0" y="5466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ÉVALUATION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Pouvoir discriminant global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52928"/>
            <a:ext cx="10607040" cy="6803136"/>
            <a:chOff x="0" y="0"/>
            <a:chExt cx="14142720" cy="907084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4142720" cy="9070848"/>
            </a:xfrm>
            <a:custGeom>
              <a:avLst/>
              <a:gdLst/>
              <a:ahLst/>
              <a:cxnLst/>
              <a:rect r="r" b="b" t="t" l="l"/>
              <a:pathLst>
                <a:path h="907084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9070848"/>
                  </a:lnTo>
                  <a:lnTo>
                    <a:pt x="0" y="9070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56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78640" y="2926080"/>
            <a:ext cx="5669280" cy="512064"/>
            <a:chOff x="0" y="0"/>
            <a:chExt cx="75590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755904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Random Forest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78640" y="3474720"/>
            <a:ext cx="5669280" cy="621792"/>
            <a:chOff x="0" y="0"/>
            <a:chExt cx="755904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59040" cy="829056"/>
            </a:xfrm>
            <a:custGeom>
              <a:avLst/>
              <a:gdLst/>
              <a:ahLst/>
              <a:cxnLst/>
              <a:rect r="r" b="b" t="t" l="l"/>
              <a:pathLst>
                <a:path h="82905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57" r="0" b="-1276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55904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AUC = 0,640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978640" y="4122039"/>
            <a:ext cx="5669280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Meilleure courbe — la plus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éloignée de la diagonale.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978640" y="5193792"/>
            <a:ext cx="5669280" cy="512064"/>
            <a:chOff x="0" y="0"/>
            <a:chExt cx="7559040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55904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Régression Log.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978640" y="5742432"/>
            <a:ext cx="5669280" cy="621792"/>
            <a:chOff x="0" y="0"/>
            <a:chExt cx="7559040" cy="8290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9040" cy="829056"/>
            </a:xfrm>
            <a:custGeom>
              <a:avLst/>
              <a:gdLst/>
              <a:ahLst/>
              <a:cxnLst/>
              <a:rect r="r" b="b" t="t" l="l"/>
              <a:pathLst>
                <a:path h="82905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57" r="0" b="-12765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755904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AUC = 0,602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978640" y="6389751"/>
            <a:ext cx="5669280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Bon recall malgré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une AUC moindre.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978640" y="7461504"/>
            <a:ext cx="5669280" cy="512064"/>
            <a:chOff x="0" y="0"/>
            <a:chExt cx="755904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55904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CNN 1D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78640" y="8010144"/>
            <a:ext cx="5669280" cy="621792"/>
            <a:chOff x="0" y="0"/>
            <a:chExt cx="7559040" cy="8290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59040" cy="829056"/>
            </a:xfrm>
            <a:custGeom>
              <a:avLst/>
              <a:gdLst/>
              <a:ahLst/>
              <a:cxnLst/>
              <a:rect r="r" b="b" t="t" l="l"/>
              <a:pathLst>
                <a:path h="82905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57" r="0" b="-12765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55904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AUC = 0,546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978640" y="8657463"/>
            <a:ext cx="5669280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Proche de l'aléatoire —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courbe orange collée à la diagonale.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ÉVALUATION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Récapitulatif des performances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2840231"/>
            <a:ext cx="3865883" cy="756923"/>
            <a:chOff x="0" y="0"/>
            <a:chExt cx="5154511" cy="10092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4549" cy="1009269"/>
            </a:xfrm>
            <a:custGeom>
              <a:avLst/>
              <a:gdLst/>
              <a:ahLst/>
              <a:cxnLst/>
              <a:rect r="r" b="b" t="t" l="l"/>
              <a:pathLst>
                <a:path h="1009269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852928"/>
            <a:ext cx="3840480" cy="731520"/>
            <a:chOff x="0" y="0"/>
            <a:chExt cx="512064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42183" y="2840231"/>
            <a:ext cx="2256539" cy="756923"/>
            <a:chOff x="0" y="0"/>
            <a:chExt cx="3008719" cy="10092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08757" cy="1009269"/>
            </a:xfrm>
            <a:custGeom>
              <a:avLst/>
              <a:gdLst/>
              <a:ahLst/>
              <a:cxnLst/>
              <a:rect r="r" b="b" t="t" l="l"/>
              <a:pathLst>
                <a:path h="1009269" w="3008757">
                  <a:moveTo>
                    <a:pt x="0" y="0"/>
                  </a:moveTo>
                  <a:lnTo>
                    <a:pt x="3008757" y="0"/>
                  </a:lnTo>
                  <a:lnTo>
                    <a:pt x="3008757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754880" y="2852928"/>
            <a:ext cx="2231136" cy="731520"/>
            <a:chOff x="0" y="0"/>
            <a:chExt cx="2974848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73319" y="2840231"/>
            <a:ext cx="2256539" cy="756923"/>
            <a:chOff x="0" y="0"/>
            <a:chExt cx="3008719" cy="10092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08757" cy="1009269"/>
            </a:xfrm>
            <a:custGeom>
              <a:avLst/>
              <a:gdLst/>
              <a:ahLst/>
              <a:cxnLst/>
              <a:rect r="r" b="b" t="t" l="l"/>
              <a:pathLst>
                <a:path h="1009269" w="3008757">
                  <a:moveTo>
                    <a:pt x="0" y="0"/>
                  </a:moveTo>
                  <a:lnTo>
                    <a:pt x="3008757" y="0"/>
                  </a:lnTo>
                  <a:lnTo>
                    <a:pt x="3008757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986016" y="2852928"/>
            <a:ext cx="2231136" cy="731520"/>
            <a:chOff x="0" y="0"/>
            <a:chExt cx="2974848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Precision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04455" y="2840231"/>
            <a:ext cx="2256539" cy="756923"/>
            <a:chOff x="0" y="0"/>
            <a:chExt cx="3008719" cy="10092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08757" cy="1009269"/>
            </a:xfrm>
            <a:custGeom>
              <a:avLst/>
              <a:gdLst/>
              <a:ahLst/>
              <a:cxnLst/>
              <a:rect r="r" b="b" t="t" l="l"/>
              <a:pathLst>
                <a:path h="1009269" w="3008757">
                  <a:moveTo>
                    <a:pt x="0" y="0"/>
                  </a:moveTo>
                  <a:lnTo>
                    <a:pt x="3008757" y="0"/>
                  </a:lnTo>
                  <a:lnTo>
                    <a:pt x="3008757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217152" y="2852928"/>
            <a:ext cx="2231136" cy="731520"/>
            <a:chOff x="0" y="0"/>
            <a:chExt cx="2974848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Recall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435591" y="2840231"/>
            <a:ext cx="2256539" cy="756923"/>
            <a:chOff x="0" y="0"/>
            <a:chExt cx="3008719" cy="10092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08757" cy="1009269"/>
            </a:xfrm>
            <a:custGeom>
              <a:avLst/>
              <a:gdLst/>
              <a:ahLst/>
              <a:cxnLst/>
              <a:rect r="r" b="b" t="t" l="l"/>
              <a:pathLst>
                <a:path h="1009269" w="3008757">
                  <a:moveTo>
                    <a:pt x="0" y="0"/>
                  </a:moveTo>
                  <a:lnTo>
                    <a:pt x="3008757" y="0"/>
                  </a:lnTo>
                  <a:lnTo>
                    <a:pt x="3008757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448288" y="2852928"/>
            <a:ext cx="2231136" cy="731520"/>
            <a:chOff x="0" y="0"/>
            <a:chExt cx="2974848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666727" y="2840231"/>
            <a:ext cx="2256539" cy="756923"/>
            <a:chOff x="0" y="0"/>
            <a:chExt cx="3008719" cy="10092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08757" cy="1009269"/>
            </a:xfrm>
            <a:custGeom>
              <a:avLst/>
              <a:gdLst/>
              <a:ahLst/>
              <a:cxnLst/>
              <a:rect r="r" b="b" t="t" l="l"/>
              <a:pathLst>
                <a:path h="1009269" w="3008757">
                  <a:moveTo>
                    <a:pt x="0" y="0"/>
                  </a:moveTo>
                  <a:lnTo>
                    <a:pt x="3008757" y="0"/>
                  </a:lnTo>
                  <a:lnTo>
                    <a:pt x="3008757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679424" y="2852928"/>
            <a:ext cx="2231136" cy="731520"/>
            <a:chOff x="0" y="0"/>
            <a:chExt cx="2974848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AUC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8047" y="3578095"/>
            <a:ext cx="3853177" cy="744217"/>
            <a:chOff x="0" y="0"/>
            <a:chExt cx="5137569" cy="99228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7531" cy="992251"/>
            </a:xfrm>
            <a:custGeom>
              <a:avLst/>
              <a:gdLst/>
              <a:ahLst/>
              <a:cxnLst/>
              <a:rect r="r" b="b" t="t" l="l"/>
              <a:pathLst>
                <a:path h="99225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14400" y="3584448"/>
            <a:ext cx="3840480" cy="731520"/>
            <a:chOff x="0" y="0"/>
            <a:chExt cx="512064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Régression Log.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748527" y="3578095"/>
            <a:ext cx="2243833" cy="744217"/>
            <a:chOff x="0" y="0"/>
            <a:chExt cx="2991777" cy="99228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4754880" y="3584448"/>
            <a:ext cx="2231136" cy="731520"/>
            <a:chOff x="0" y="0"/>
            <a:chExt cx="2974848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73,3 %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979663" y="3578095"/>
            <a:ext cx="2243833" cy="744217"/>
            <a:chOff x="0" y="0"/>
            <a:chExt cx="2991777" cy="99228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986016" y="3584448"/>
            <a:ext cx="2231136" cy="731520"/>
            <a:chOff x="0" y="0"/>
            <a:chExt cx="2974848" cy="975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12,6 %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210799" y="3578095"/>
            <a:ext cx="2243833" cy="744217"/>
            <a:chOff x="0" y="0"/>
            <a:chExt cx="2991777" cy="99228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D8EDD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217152" y="3584448"/>
            <a:ext cx="2231136" cy="731520"/>
            <a:chOff x="0" y="0"/>
            <a:chExt cx="2974848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41,6 %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441935" y="3578095"/>
            <a:ext cx="2243833" cy="744217"/>
            <a:chOff x="0" y="0"/>
            <a:chExt cx="2991777" cy="99228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D8EDD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448288" y="3584448"/>
            <a:ext cx="2231136" cy="731520"/>
            <a:chOff x="0" y="0"/>
            <a:chExt cx="2974848" cy="975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19,3 %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673071" y="3578095"/>
            <a:ext cx="2243833" cy="744217"/>
            <a:chOff x="0" y="0"/>
            <a:chExt cx="2991777" cy="99228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3679424" y="3584448"/>
            <a:ext cx="2231136" cy="731520"/>
            <a:chOff x="0" y="0"/>
            <a:chExt cx="2974848" cy="975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0,60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08047" y="4309615"/>
            <a:ext cx="3853177" cy="744217"/>
            <a:chOff x="0" y="0"/>
            <a:chExt cx="5137569" cy="99228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37531" cy="992251"/>
            </a:xfrm>
            <a:custGeom>
              <a:avLst/>
              <a:gdLst/>
              <a:ahLst/>
              <a:cxnLst/>
              <a:rect r="r" b="b" t="t" l="l"/>
              <a:pathLst>
                <a:path h="99225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7F7F5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14400" y="4315968"/>
            <a:ext cx="3840480" cy="731520"/>
            <a:chOff x="0" y="0"/>
            <a:chExt cx="5120640" cy="975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748527" y="4309615"/>
            <a:ext cx="2243833" cy="744217"/>
            <a:chOff x="0" y="0"/>
            <a:chExt cx="2991777" cy="99228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7F7F5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4754880" y="4315968"/>
            <a:ext cx="2231136" cy="731520"/>
            <a:chOff x="0" y="0"/>
            <a:chExt cx="2974848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83,1 %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979663" y="4309615"/>
            <a:ext cx="2243833" cy="744217"/>
            <a:chOff x="0" y="0"/>
            <a:chExt cx="2991777" cy="99228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7F7F5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6986016" y="4315968"/>
            <a:ext cx="2231136" cy="731520"/>
            <a:chOff x="0" y="0"/>
            <a:chExt cx="2974848" cy="9753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11,0 %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210799" y="4309615"/>
            <a:ext cx="2243833" cy="744217"/>
            <a:chOff x="0" y="0"/>
            <a:chExt cx="2991777" cy="99228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7F7F5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9217152" y="4315968"/>
            <a:ext cx="2231136" cy="731520"/>
            <a:chOff x="0" y="0"/>
            <a:chExt cx="2974848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16,9 %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441935" y="4309615"/>
            <a:ext cx="2243833" cy="744217"/>
            <a:chOff x="0" y="0"/>
            <a:chExt cx="2991777" cy="99228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7F7F5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1448288" y="4315968"/>
            <a:ext cx="2231136" cy="731520"/>
            <a:chOff x="0" y="0"/>
            <a:chExt cx="2974848" cy="9753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13,3 %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673071" y="4309615"/>
            <a:ext cx="2243833" cy="744217"/>
            <a:chOff x="0" y="0"/>
            <a:chExt cx="2991777" cy="99228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D8EDD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3679424" y="4315968"/>
            <a:ext cx="2231136" cy="731520"/>
            <a:chOff x="0" y="0"/>
            <a:chExt cx="2974848" cy="9753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0,64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08047" y="5041135"/>
            <a:ext cx="3853177" cy="744217"/>
            <a:chOff x="0" y="0"/>
            <a:chExt cx="5137569" cy="99228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137531" cy="992251"/>
            </a:xfrm>
            <a:custGeom>
              <a:avLst/>
              <a:gdLst/>
              <a:ahLst/>
              <a:cxnLst/>
              <a:rect r="r" b="b" t="t" l="l"/>
              <a:pathLst>
                <a:path h="992251" w="5137531">
                  <a:moveTo>
                    <a:pt x="0" y="0"/>
                  </a:moveTo>
                  <a:lnTo>
                    <a:pt x="5137531" y="0"/>
                  </a:lnTo>
                  <a:lnTo>
                    <a:pt x="5137531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914400" y="5047488"/>
            <a:ext cx="3840480" cy="731520"/>
            <a:chOff x="0" y="0"/>
            <a:chExt cx="5120640" cy="9753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 1D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748527" y="5041135"/>
            <a:ext cx="2243833" cy="744217"/>
            <a:chOff x="0" y="0"/>
            <a:chExt cx="2991777" cy="99228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4754880" y="5047488"/>
            <a:ext cx="2231136" cy="731520"/>
            <a:chOff x="0" y="0"/>
            <a:chExt cx="2974848" cy="9753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85,0 %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979663" y="5041135"/>
            <a:ext cx="2243833" cy="744217"/>
            <a:chOff x="0" y="0"/>
            <a:chExt cx="2991777" cy="99228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6986016" y="5047488"/>
            <a:ext cx="2231136" cy="731520"/>
            <a:chOff x="0" y="0"/>
            <a:chExt cx="2974848" cy="9753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8,1 %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210799" y="5041135"/>
            <a:ext cx="2243833" cy="744217"/>
            <a:chOff x="0" y="0"/>
            <a:chExt cx="2991777" cy="99228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9217152" y="5047488"/>
            <a:ext cx="2231136" cy="731520"/>
            <a:chOff x="0" y="0"/>
            <a:chExt cx="2974848" cy="9753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9,1 %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441935" y="5041135"/>
            <a:ext cx="2243833" cy="744217"/>
            <a:chOff x="0" y="0"/>
            <a:chExt cx="2991777" cy="99228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11448288" y="5047488"/>
            <a:ext cx="2231136" cy="731520"/>
            <a:chOff x="0" y="0"/>
            <a:chExt cx="2974848" cy="97536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8,5 %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3673071" y="5041135"/>
            <a:ext cx="2243833" cy="744217"/>
            <a:chOff x="0" y="0"/>
            <a:chExt cx="2991777" cy="992289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991739" cy="992251"/>
            </a:xfrm>
            <a:custGeom>
              <a:avLst/>
              <a:gdLst/>
              <a:ahLst/>
              <a:cxnLst/>
              <a:rect r="r" b="b" t="t" l="l"/>
              <a:pathLst>
                <a:path h="992251" w="2991739">
                  <a:moveTo>
                    <a:pt x="0" y="0"/>
                  </a:moveTo>
                  <a:lnTo>
                    <a:pt x="2991739" y="0"/>
                  </a:lnTo>
                  <a:lnTo>
                    <a:pt x="2991739" y="992251"/>
                  </a:lnTo>
                  <a:lnTo>
                    <a:pt x="0" y="992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3679424" y="5047488"/>
            <a:ext cx="2231136" cy="731520"/>
            <a:chOff x="0" y="0"/>
            <a:chExt cx="2974848" cy="97536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974848" cy="975360"/>
            </a:xfrm>
            <a:custGeom>
              <a:avLst/>
              <a:gdLst/>
              <a:ahLst/>
              <a:cxnLst/>
              <a:rect r="r" b="b" t="t" l="l"/>
              <a:pathLst>
                <a:path h="97536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29748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0,55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14400" y="5888736"/>
            <a:ext cx="11887200" cy="402336"/>
            <a:chOff x="0" y="0"/>
            <a:chExt cx="15849600" cy="53644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5849600" cy="536448"/>
            </a:xfrm>
            <a:custGeom>
              <a:avLst/>
              <a:gdLst/>
              <a:ahLst/>
              <a:cxnLst/>
              <a:rect r="r" b="b" t="t" l="l"/>
              <a:pathLst>
                <a:path h="53644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694" r="0" b="-525694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15849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9999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Valeurs en vert = meilleur résultat sur ce critère</a:t>
              </a:r>
            </a:p>
          </p:txBody>
        </p:sp>
      </p:grpSp>
      <p:sp>
        <p:nvSpPr>
          <p:cNvPr name="Freeform 135" id="135"/>
          <p:cNvSpPr/>
          <p:nvPr/>
        </p:nvSpPr>
        <p:spPr>
          <a:xfrm flipH="false" flipV="false" rot="0">
            <a:off x="3197240" y="6291072"/>
            <a:ext cx="9805279" cy="3863232"/>
          </a:xfrm>
          <a:custGeom>
            <a:avLst/>
            <a:gdLst/>
            <a:ahLst/>
            <a:cxnLst/>
            <a:rect r="r" b="b" t="t" l="l"/>
            <a:pathLst>
              <a:path h="3863232" w="9805279">
                <a:moveTo>
                  <a:pt x="0" y="0"/>
                </a:moveTo>
                <a:lnTo>
                  <a:pt x="9805279" y="0"/>
                </a:lnTo>
                <a:lnTo>
                  <a:pt x="9805279" y="3863232"/>
                </a:lnTo>
                <a:lnTo>
                  <a:pt x="0" y="386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28" r="-654" b="-483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ÉVALUATION · CNN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 CNN converge — mais sans avantage réel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52928"/>
            <a:ext cx="11887200" cy="4937760"/>
            <a:chOff x="0" y="0"/>
            <a:chExt cx="15849600" cy="658368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5849600" cy="6583680"/>
            </a:xfrm>
            <a:custGeom>
              <a:avLst/>
              <a:gdLst/>
              <a:ahLst/>
              <a:cxnLst/>
              <a:rect r="r" b="b" t="t" l="l"/>
              <a:pathLst>
                <a:path h="65836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01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46103" y="2913383"/>
            <a:ext cx="116843" cy="3463547"/>
            <a:chOff x="0" y="0"/>
            <a:chExt cx="155791" cy="46180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829" cy="4618101"/>
            </a:xfrm>
            <a:custGeom>
              <a:avLst/>
              <a:gdLst/>
              <a:ahLst/>
              <a:cxnLst/>
              <a:rect r="r" b="b" t="t" l="l"/>
              <a:pathLst>
                <a:path h="4618101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4618101"/>
                  </a:lnTo>
                  <a:lnTo>
                    <a:pt x="0" y="461810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606272" y="3072384"/>
            <a:ext cx="4023360" cy="548640"/>
            <a:chOff x="0" y="0"/>
            <a:chExt cx="536448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364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Pas d'overfitting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606272" y="3719703"/>
            <a:ext cx="4023360" cy="227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La val_loss converge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stablement vers l'époque 15.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Le modèle généralise.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246103" y="6717287"/>
            <a:ext cx="116843" cy="3463547"/>
            <a:chOff x="0" y="0"/>
            <a:chExt cx="155791" cy="46180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829" cy="4618101"/>
            </a:xfrm>
            <a:custGeom>
              <a:avLst/>
              <a:gdLst/>
              <a:ahLst/>
              <a:cxnLst/>
              <a:rect r="r" b="b" t="t" l="l"/>
              <a:pathLst>
                <a:path h="4618101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4618101"/>
                  </a:lnTo>
                  <a:lnTo>
                    <a:pt x="0" y="4618101"/>
                  </a:lnTo>
                  <a:close/>
                </a:path>
              </a:pathLst>
            </a:custGeom>
            <a:solidFill>
              <a:srgbClr val="B5451B"/>
            </a:solidFill>
            <a:ln w="25400" cap="sq">
              <a:solidFill>
                <a:srgbClr val="B5451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606272" y="6876288"/>
            <a:ext cx="4023360" cy="548640"/>
            <a:chOff x="0" y="0"/>
            <a:chExt cx="53644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364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AUC proche du hasard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606272" y="7523607"/>
            <a:ext cx="4023360" cy="227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AUC = 0,55. Les CNN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traitent des séquences —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 absente ici.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609095"/>
            <a:ext cx="135131" cy="427739"/>
            <a:chOff x="0" y="0"/>
            <a:chExt cx="180175" cy="570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213" cy="570357"/>
            </a:xfrm>
            <a:custGeom>
              <a:avLst/>
              <a:gdLst/>
              <a:ahLst/>
              <a:cxnLst/>
              <a:rect r="r" b="b" t="t" l="l"/>
              <a:pathLst>
                <a:path h="5703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570357"/>
                  </a:lnTo>
                  <a:lnTo>
                    <a:pt x="0" y="57035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3584" y="548640"/>
            <a:ext cx="16093440" cy="548640"/>
            <a:chOff x="0" y="0"/>
            <a:chExt cx="214579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59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BILAN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2B2B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 qui a marché — ce qui n'a pas marché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84199"/>
            <a:ext cx="16484603" cy="43691"/>
            <a:chOff x="0" y="0"/>
            <a:chExt cx="21979471" cy="58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52928"/>
            <a:ext cx="7680960" cy="548640"/>
            <a:chOff x="0" y="0"/>
            <a:chExt cx="102412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 qui a bien fonctionné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26880" y="2852928"/>
            <a:ext cx="8046720" cy="548640"/>
            <a:chOff x="0" y="0"/>
            <a:chExt cx="107289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72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B5451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 qui n'a pas fonctionné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1703" y="3498599"/>
            <a:ext cx="16484603" cy="43691"/>
            <a:chOff x="0" y="0"/>
            <a:chExt cx="21979471" cy="582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1703" y="3919223"/>
            <a:ext cx="171707" cy="171707"/>
            <a:chOff x="0" y="0"/>
            <a:chExt cx="228943" cy="2289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43584" y="3730752"/>
            <a:ext cx="7388352" cy="585216"/>
            <a:chOff x="0" y="0"/>
            <a:chExt cx="9851136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51136" cy="780288"/>
            </a:xfrm>
            <a:custGeom>
              <a:avLst/>
              <a:gdLst/>
              <a:ahLst/>
              <a:cxnLst/>
              <a:rect r="r" b="b" t="t" l="l"/>
              <a:pathLst>
                <a:path h="780288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851136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SMOTE : recall amélioré de ~15 % à 41 %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 la Régression Logistique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703" y="5309111"/>
            <a:ext cx="171707" cy="171707"/>
            <a:chOff x="0" y="0"/>
            <a:chExt cx="228943" cy="2289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43584" y="5120640"/>
            <a:ext cx="7388352" cy="585216"/>
            <a:chOff x="0" y="0"/>
            <a:chExt cx="9851136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51136" cy="780288"/>
            </a:xfrm>
            <a:custGeom>
              <a:avLst/>
              <a:gdLst/>
              <a:ahLst/>
              <a:cxnLst/>
              <a:rect r="r" b="b" t="t" l="l"/>
              <a:pathLst>
                <a:path h="780288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851136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class_weight='balanced' efficace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à coût quasi nul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1703" y="6698999"/>
            <a:ext cx="171707" cy="171707"/>
            <a:chOff x="0" y="0"/>
            <a:chExt cx="228943" cy="2289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43584" y="6510528"/>
            <a:ext cx="7388352" cy="585216"/>
            <a:chOff x="0" y="0"/>
            <a:chExt cx="9851136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51136" cy="780288"/>
            </a:xfrm>
            <a:custGeom>
              <a:avLst/>
              <a:gdLst/>
              <a:ahLst/>
              <a:cxnLst/>
              <a:rect r="r" b="b" t="t" l="l"/>
              <a:pathLst>
                <a:path h="780288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851136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: meilleure AUC (0,64)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 feature importance exploitable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1703" y="8088887"/>
            <a:ext cx="171707" cy="171707"/>
            <a:chOff x="0" y="0"/>
            <a:chExt cx="228943" cy="2289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43584" y="7900416"/>
            <a:ext cx="7388352" cy="585216"/>
            <a:chOff x="0" y="0"/>
            <a:chExt cx="9851136" cy="780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851136" cy="780288"/>
            </a:xfrm>
            <a:custGeom>
              <a:avLst/>
              <a:gdLst/>
              <a:ahLst/>
              <a:cxnLst/>
              <a:rect r="r" b="b" t="t" l="l"/>
              <a:pathLst>
                <a:path h="780288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851136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 reproductible — aucun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leakage détecté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48423" y="2840231"/>
            <a:ext cx="43691" cy="6060443"/>
            <a:chOff x="0" y="0"/>
            <a:chExt cx="58255" cy="80805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293" cy="8080629"/>
            </a:xfrm>
            <a:custGeom>
              <a:avLst/>
              <a:gdLst/>
              <a:ahLst/>
              <a:cxnLst/>
              <a:rect r="r" b="b" t="t" l="l"/>
              <a:pathLst>
                <a:path h="8080629" w="58293">
                  <a:moveTo>
                    <a:pt x="0" y="0"/>
                  </a:moveTo>
                  <a:lnTo>
                    <a:pt x="58293" y="0"/>
                  </a:lnTo>
                  <a:lnTo>
                    <a:pt x="58293" y="8080629"/>
                  </a:lnTo>
                  <a:lnTo>
                    <a:pt x="0" y="8080629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314183" y="3919223"/>
            <a:ext cx="171707" cy="171707"/>
            <a:chOff x="0" y="0"/>
            <a:chExt cx="228943" cy="2289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B5451B"/>
            </a:solidFill>
            <a:ln w="25400" cap="sq">
              <a:solidFill>
                <a:srgbClr val="B5451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656064" y="3730752"/>
            <a:ext cx="7717536" cy="585216"/>
            <a:chOff x="0" y="0"/>
            <a:chExt cx="10290048" cy="780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90048" cy="780288"/>
            </a:xfrm>
            <a:custGeom>
              <a:avLst/>
              <a:gdLst/>
              <a:ahLst/>
              <a:cxnLst/>
              <a:rect r="r" b="b" t="t" l="l"/>
              <a:pathLst>
                <a:path h="78028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958" r="0" b="-20695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29004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 peu adapté aux données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tabulaires (AUC = 0,55)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14183" y="5309111"/>
            <a:ext cx="171707" cy="171707"/>
            <a:chOff x="0" y="0"/>
            <a:chExt cx="228943" cy="22894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B5451B"/>
            </a:solidFill>
            <a:ln w="25400" cap="sq">
              <a:solidFill>
                <a:srgbClr val="B5451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656064" y="5120640"/>
            <a:ext cx="7717536" cy="585216"/>
            <a:chOff x="0" y="0"/>
            <a:chExt cx="10290048" cy="7802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90048" cy="780288"/>
            </a:xfrm>
            <a:custGeom>
              <a:avLst/>
              <a:gdLst/>
              <a:ahLst/>
              <a:cxnLst/>
              <a:rect r="r" b="b" t="t" l="l"/>
              <a:pathLst>
                <a:path h="78028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958" r="0" b="-20695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29004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Précision classe 1 faible (8-13 %)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malgré le SMOTE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314183" y="6698999"/>
            <a:ext cx="171707" cy="171707"/>
            <a:chOff x="0" y="0"/>
            <a:chExt cx="228943" cy="2289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B5451B"/>
            </a:solidFill>
            <a:ln w="25400" cap="sq">
              <a:solidFill>
                <a:srgbClr val="B5451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656064" y="6510528"/>
            <a:ext cx="7717536" cy="585216"/>
            <a:chOff x="0" y="0"/>
            <a:chExt cx="10290048" cy="7802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90048" cy="780288"/>
            </a:xfrm>
            <a:custGeom>
              <a:avLst/>
              <a:gdLst/>
              <a:ahLst/>
              <a:cxnLst/>
              <a:rect r="r" b="b" t="t" l="l"/>
              <a:pathLst>
                <a:path h="78028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958" r="0" b="-20695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29004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Absence d'optimisation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systématique des hyperparamètres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14183" y="8088887"/>
            <a:ext cx="171707" cy="171707"/>
            <a:chOff x="0" y="0"/>
            <a:chExt cx="228943" cy="22894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8981" cy="228981"/>
            </a:xfrm>
            <a:custGeom>
              <a:avLst/>
              <a:gdLst/>
              <a:ahLst/>
              <a:cxnLst/>
              <a:rect r="r" b="b" t="t" l="l"/>
              <a:pathLst>
                <a:path h="228981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B5451B"/>
            </a:solidFill>
            <a:ln w="25400" cap="sq">
              <a:solidFill>
                <a:srgbClr val="B5451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656064" y="7900416"/>
            <a:ext cx="7717536" cy="585216"/>
            <a:chOff x="0" y="0"/>
            <a:chExt cx="10290048" cy="7802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90048" cy="780288"/>
            </a:xfrm>
            <a:custGeom>
              <a:avLst/>
              <a:gdLst/>
              <a:ahLst/>
              <a:cxnLst/>
              <a:rect r="r" b="b" t="t" l="l"/>
              <a:pathLst>
                <a:path h="78028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958" r="0" b="-20695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29004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simulé — à valider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 les 41 k instances UCI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01703" y="9241031"/>
            <a:ext cx="16484603" cy="43691"/>
            <a:chOff x="0" y="0"/>
            <a:chExt cx="21979471" cy="5825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79510" cy="58293"/>
            </a:xfrm>
            <a:custGeom>
              <a:avLst/>
              <a:gdLst/>
              <a:ahLst/>
              <a:cxnLst/>
              <a:rect r="r" b="b" t="t" l="l"/>
              <a:pathLst>
                <a:path h="58293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14400" y="9473184"/>
            <a:ext cx="16459200" cy="512064"/>
            <a:chOff x="0" y="0"/>
            <a:chExt cx="2194560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Pistes d'amélioration  →  XGBoost  ·  LightGBM  ·  Threshold tuning  ·  SHAP values  ·  GridSearchCV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" y="768096"/>
            <a:ext cx="16276320" cy="1243584"/>
            <a:chOff x="0" y="0"/>
            <a:chExt cx="21701760" cy="16581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01761" cy="1658112"/>
            </a:xfrm>
            <a:custGeom>
              <a:avLst/>
              <a:gdLst/>
              <a:ahLst/>
              <a:cxnLst/>
              <a:rect r="r" b="b" t="t" l="l"/>
              <a:pathLst>
                <a:path h="1658112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024" r="0" b="-2050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01760" cy="1667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3143" y="2218439"/>
            <a:ext cx="16301723" cy="43691"/>
            <a:chOff x="0" y="0"/>
            <a:chExt cx="21735631" cy="58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35669" cy="58293"/>
            </a:xfrm>
            <a:custGeom>
              <a:avLst/>
              <a:gdLst/>
              <a:ahLst/>
              <a:cxnLst/>
              <a:rect r="r" b="b" t="t" l="l"/>
              <a:pathLst>
                <a:path h="58293" w="21735669">
                  <a:moveTo>
                    <a:pt x="0" y="0"/>
                  </a:moveTo>
                  <a:lnTo>
                    <a:pt x="21735669" y="0"/>
                  </a:lnTo>
                  <a:lnTo>
                    <a:pt x="2173566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3143" y="2547623"/>
            <a:ext cx="5328923" cy="98555"/>
            <a:chOff x="0" y="0"/>
            <a:chExt cx="7105231" cy="1314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05269" cy="131445"/>
            </a:xfrm>
            <a:custGeom>
              <a:avLst/>
              <a:gdLst/>
              <a:ahLst/>
              <a:cxnLst/>
              <a:rect r="r" b="b" t="t" l="l"/>
              <a:pathLst>
                <a:path h="131445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74C69D"/>
            </a:solidFill>
            <a:ln w="25400" cap="sq">
              <a:solidFill>
                <a:srgbClr val="74C69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2852928"/>
            <a:ext cx="5303520" cy="621792"/>
            <a:chOff x="0" y="0"/>
            <a:chExt cx="7071360" cy="8290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71360" cy="829056"/>
            </a:xfrm>
            <a:custGeom>
              <a:avLst/>
              <a:gdLst/>
              <a:ahLst/>
              <a:cxnLst/>
              <a:rect r="r" b="b" t="t" l="l"/>
              <a:pathLst>
                <a:path h="82905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95" r="0" b="-11619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07136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Régression Logistique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5840" y="3584448"/>
            <a:ext cx="5303520" cy="768096"/>
            <a:chOff x="0" y="0"/>
            <a:chExt cx="7071360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39" r="0" b="-8453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707136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74C69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Recall  41,6 %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05840" y="4451223"/>
            <a:ext cx="53035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Recommandé pour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la détection de prospects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62423" y="2547623"/>
            <a:ext cx="5328923" cy="98555"/>
            <a:chOff x="0" y="0"/>
            <a:chExt cx="7105231" cy="1314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05269" cy="131445"/>
            </a:xfrm>
            <a:custGeom>
              <a:avLst/>
              <a:gdLst/>
              <a:ahLst/>
              <a:cxnLst/>
              <a:rect r="r" b="b" t="t" l="l"/>
              <a:pathLst>
                <a:path h="131445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74C69D"/>
            </a:solidFill>
            <a:ln w="25400" cap="sq">
              <a:solidFill>
                <a:srgbClr val="74C69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675120" y="2852928"/>
            <a:ext cx="5303520" cy="621792"/>
            <a:chOff x="0" y="0"/>
            <a:chExt cx="7071360" cy="8290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71360" cy="829056"/>
            </a:xfrm>
            <a:custGeom>
              <a:avLst/>
              <a:gdLst/>
              <a:ahLst/>
              <a:cxnLst/>
              <a:rect r="r" b="b" t="t" l="l"/>
              <a:pathLst>
                <a:path h="82905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95" r="0" b="-1161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07136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Random Forest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75120" y="3584448"/>
            <a:ext cx="5303520" cy="768096"/>
            <a:chOff x="0" y="0"/>
            <a:chExt cx="7071360" cy="102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39" r="0" b="-8453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07136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74C69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AUC  0,640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675120" y="4451223"/>
            <a:ext cx="53035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Recommandé pour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le scoring et la segmentation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31703" y="2547623"/>
            <a:ext cx="5328923" cy="98555"/>
            <a:chOff x="0" y="0"/>
            <a:chExt cx="7105231" cy="1314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05269" cy="131445"/>
            </a:xfrm>
            <a:custGeom>
              <a:avLst/>
              <a:gdLst/>
              <a:ahLst/>
              <a:cxnLst/>
              <a:rect r="r" b="b" t="t" l="l"/>
              <a:pathLst>
                <a:path h="131445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777777"/>
            </a:solidFill>
            <a:ln w="25400" cap="sq">
              <a:solidFill>
                <a:srgbClr val="77777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344400" y="2852928"/>
            <a:ext cx="5303520" cy="621792"/>
            <a:chOff x="0" y="0"/>
            <a:chExt cx="7071360" cy="829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71360" cy="829056"/>
            </a:xfrm>
            <a:custGeom>
              <a:avLst/>
              <a:gdLst/>
              <a:ahLst/>
              <a:cxnLst/>
              <a:rect r="r" b="b" t="t" l="l"/>
              <a:pathLst>
                <a:path h="82905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95" r="0" b="-1161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071360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CNN 1D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44400" y="3584448"/>
            <a:ext cx="5303520" cy="768096"/>
            <a:chOff x="0" y="0"/>
            <a:chExt cx="7071360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71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39" r="0" b="-8453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707136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77777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Acc.  85,0 %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344400" y="4451223"/>
            <a:ext cx="53035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Moins adapté —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données sans structure séq.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93143" y="5949191"/>
            <a:ext cx="16301723" cy="43691"/>
            <a:chOff x="0" y="0"/>
            <a:chExt cx="21735631" cy="582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35669" cy="58293"/>
            </a:xfrm>
            <a:custGeom>
              <a:avLst/>
              <a:gdLst/>
              <a:ahLst/>
              <a:cxnLst/>
              <a:rect r="r" b="b" t="t" l="l"/>
              <a:pathLst>
                <a:path h="58293" w="21735669">
                  <a:moveTo>
                    <a:pt x="0" y="0"/>
                  </a:moveTo>
                  <a:lnTo>
                    <a:pt x="21735669" y="0"/>
                  </a:lnTo>
                  <a:lnTo>
                    <a:pt x="2173566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DDDDDD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05840" y="6217920"/>
            <a:ext cx="3657600" cy="475488"/>
            <a:chOff x="0" y="0"/>
            <a:chExt cx="4876800" cy="6339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76800" cy="633984"/>
            </a:xfrm>
            <a:custGeom>
              <a:avLst/>
              <a:gdLst/>
              <a:ahLst/>
              <a:cxnLst/>
              <a:rect r="r" b="b" t="t" l="l"/>
              <a:pathLst>
                <a:path h="63398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8768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4C6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 clé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05840" y="6728460"/>
            <a:ext cx="16276320" cy="153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BBBBBB"/>
                </a:solidFill>
                <a:latin typeface="Calibri (MS)"/>
                <a:ea typeface="Calibri (MS)"/>
                <a:cs typeface="Calibri (MS)"/>
                <a:sym typeface="Calibri (MS)"/>
              </a:rPr>
              <a:t>Le déséquilibre 92/8 % est la difficulté centrale du projet. SMOTE l'atténue, mais le choix de la métrique (recall vs AUC) dépend de l'objectif métier. Prochaines étapes : XGBoost et ajustement du seuil de décision.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05840" y="9418320"/>
            <a:ext cx="16276320" cy="512064"/>
            <a:chOff x="0" y="0"/>
            <a:chExt cx="2170176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701761" cy="682752"/>
            </a:xfrm>
            <a:custGeom>
              <a:avLst/>
              <a:gdLst/>
              <a:ahLst/>
              <a:cxnLst/>
              <a:rect r="r" b="b" t="t" l="l"/>
              <a:pathLst>
                <a:path h="682752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9345" r="0" b="-56934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1701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Merci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DAHLpN2ZQXA</dc:identifier>
  <dcterms:modified xsi:type="dcterms:W3CDTF">2011-08-01T06:04:30Z</dcterms:modified>
  <cp:revision>1</cp:revision>
  <dc:title>presentation_finale_v3.pptx</dc:title>
</cp:coreProperties>
</file>