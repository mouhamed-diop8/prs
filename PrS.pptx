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8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Cambria Bold" charset="1" panose="02040803050406030204"/>
      <p:regular r:id="rId21"/>
    </p:embeddedFont>
    <p:embeddedFont>
      <p:font typeface="Calibri (MS)" charset="1" panose="020F0502020204030204"/>
      <p:regular r:id="rId22"/>
    </p:embeddedFont>
    <p:embeddedFont>
      <p:font typeface="Calibri (MS) Bold" charset="1" panose="020F0702030404030204"/>
      <p:regular r:id="rId23"/>
    </p:embeddedFont>
    <p:embeddedFont>
      <p:font typeface="Calibri (MS) Italics" charset="1" panose="020F05020202040A0204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notesMasters/notesMaster1.xml" Type="http://schemas.openxmlformats.org/officeDocument/2006/relationships/notesMaster"/><Relationship Id="rId19" Target="theme/theme2.xml" Type="http://schemas.openxmlformats.org/officeDocument/2006/relationships/theme"/><Relationship Id="rId2" Target="presProps.xml" Type="http://schemas.openxmlformats.org/officeDocument/2006/relationships/presProps"/><Relationship Id="rId20" Target="notesSlides/notesSlide1.xml" Type="http://schemas.openxmlformats.org/officeDocument/2006/relationships/notes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notesSlides/notesSlide2.xml" Type="http://schemas.openxmlformats.org/officeDocument/2006/relationships/notesSlide"/><Relationship Id="rId26" Target="notesSlides/notesSlide3.xml" Type="http://schemas.openxmlformats.org/officeDocument/2006/relationships/notesSlide"/><Relationship Id="rId27" Target="notesSlides/notesSlide4.xml" Type="http://schemas.openxmlformats.org/officeDocument/2006/relationships/notesSlide"/><Relationship Id="rId28" Target="notesSlides/notesSlide5.xml" Type="http://schemas.openxmlformats.org/officeDocument/2006/relationships/notesSlide"/><Relationship Id="rId29" Target="notesSlides/notesSlide6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7.xml" Type="http://schemas.openxmlformats.org/officeDocument/2006/relationships/notesSlide"/><Relationship Id="rId31" Target="notesSlides/notesSlide8.xml" Type="http://schemas.openxmlformats.org/officeDocument/2006/relationships/notesSlide"/><Relationship Id="rId32" Target="notesSlides/notesSlide9.xml" Type="http://schemas.openxmlformats.org/officeDocument/2006/relationships/notesSlide"/><Relationship Id="rId33" Target="notesSlides/notesSlide10.xml" Type="http://schemas.openxmlformats.org/officeDocument/2006/relationships/notesSlide"/><Relationship Id="rId34" Target="notesSlides/notesSlide11.xml" Type="http://schemas.openxmlformats.org/officeDocument/2006/relationships/notesSlide"/><Relationship Id="rId35" Target="notesSlides/notesSlide12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Relationship Id="rId4" Target="../media/image2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jpeg" Type="http://schemas.openxmlformats.org/officeDocument/2006/relationships/image"/><Relationship Id="rId4" Target="../media/image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jpeg" Type="http://schemas.openxmlformats.org/officeDocument/2006/relationships/image"/><Relationship Id="rId4" Target="../media/image5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jpeg" Type="http://schemas.openxmlformats.org/officeDocument/2006/relationships/image"/><Relationship Id="rId4" Target="../media/image6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jpeg" Type="http://schemas.openxmlformats.org/officeDocument/2006/relationships/image"/><Relationship Id="rId4" Target="../media/image7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42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1546843" cy="10312403"/>
            <a:chOff x="0" y="0"/>
            <a:chExt cx="15395791" cy="137498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395829" cy="13749910"/>
            </a:xfrm>
            <a:custGeom>
              <a:avLst/>
              <a:gdLst/>
              <a:ahLst/>
              <a:cxnLst/>
              <a:rect r="r" b="b" t="t" l="l"/>
              <a:pathLst>
                <a:path h="13749910" w="15395829">
                  <a:moveTo>
                    <a:pt x="0" y="0"/>
                  </a:moveTo>
                  <a:lnTo>
                    <a:pt x="15395829" y="0"/>
                  </a:lnTo>
                  <a:lnTo>
                    <a:pt x="15395829" y="13749910"/>
                  </a:lnTo>
                  <a:lnTo>
                    <a:pt x="0" y="13749910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005840" y="1554480"/>
            <a:ext cx="10058400" cy="3291840"/>
            <a:chOff x="0" y="0"/>
            <a:chExt cx="13411200" cy="43891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411200" cy="4389120"/>
            </a:xfrm>
            <a:custGeom>
              <a:avLst/>
              <a:gdLst/>
              <a:ahLst/>
              <a:cxnLst/>
              <a:rect r="r" b="b" t="t" l="l"/>
              <a:pathLst>
                <a:path h="4389120" w="13411200">
                  <a:moveTo>
                    <a:pt x="0" y="0"/>
                  </a:moveTo>
                  <a:lnTo>
                    <a:pt x="13411200" y="0"/>
                  </a:lnTo>
                  <a:lnTo>
                    <a:pt x="13411200" y="4389120"/>
                  </a:lnTo>
                  <a:lnTo>
                    <a:pt x="0" y="4389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537" r="0" b="-9537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13411200" cy="43986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680"/>
                </a:lnSpc>
              </a:pPr>
              <a:r>
                <a:rPr lang="en-US" sz="6400" b="true">
                  <a:solidFill>
                    <a:srgbClr val="2B2B2B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Prédiction de</a:t>
              </a:r>
            </a:p>
            <a:p>
              <a:pPr algn="l">
                <a:lnSpc>
                  <a:spcPts val="7680"/>
                </a:lnSpc>
              </a:pPr>
              <a:r>
                <a:rPr lang="en-US" sz="6400" b="true">
                  <a:solidFill>
                    <a:srgbClr val="2B2B2B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Souscription Client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05840" y="4974336"/>
            <a:ext cx="10058400" cy="548640"/>
            <a:chOff x="0" y="0"/>
            <a:chExt cx="13411200" cy="7315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3411200" cy="731520"/>
            </a:xfrm>
            <a:custGeom>
              <a:avLst/>
              <a:gdLst/>
              <a:ahLst/>
              <a:cxnLst/>
              <a:rect r="r" b="b" t="t" l="l"/>
              <a:pathLst>
                <a:path h="731520" w="13411200">
                  <a:moveTo>
                    <a:pt x="0" y="0"/>
                  </a:moveTo>
                  <a:lnTo>
                    <a:pt x="13411200" y="0"/>
                  </a:lnTo>
                  <a:lnTo>
                    <a:pt x="13411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7225" r="0" b="-307225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134112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99999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Bank Marketing Dataset  ·  UCI Machine Learning Repository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93143" y="5766311"/>
            <a:ext cx="9900923" cy="43691"/>
            <a:chOff x="0" y="0"/>
            <a:chExt cx="13201231" cy="5825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201269" cy="58293"/>
            </a:xfrm>
            <a:custGeom>
              <a:avLst/>
              <a:gdLst/>
              <a:ahLst/>
              <a:cxnLst/>
              <a:rect r="r" b="b" t="t" l="l"/>
              <a:pathLst>
                <a:path h="58293" w="13201269">
                  <a:moveTo>
                    <a:pt x="0" y="0"/>
                  </a:moveTo>
                  <a:lnTo>
                    <a:pt x="13201269" y="0"/>
                  </a:lnTo>
                  <a:lnTo>
                    <a:pt x="13201269" y="58293"/>
                  </a:lnTo>
                  <a:lnTo>
                    <a:pt x="0" y="58293"/>
                  </a:lnTo>
                  <a:close/>
                </a:path>
              </a:pathLst>
            </a:custGeom>
            <a:solidFill>
              <a:srgbClr val="DDDDDD"/>
            </a:solidFill>
            <a:ln w="25400" cap="sq">
              <a:solidFill>
                <a:srgbClr val="DDDDDD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005840" y="6035040"/>
            <a:ext cx="10058400" cy="512064"/>
            <a:chOff x="0" y="0"/>
            <a:chExt cx="13411200" cy="68275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411200" cy="682752"/>
            </a:xfrm>
            <a:custGeom>
              <a:avLst/>
              <a:gdLst/>
              <a:ahLst/>
              <a:cxnLst/>
              <a:rect r="r" b="b" t="t" l="l"/>
              <a:pathLst>
                <a:path h="682752" w="13411200">
                  <a:moveTo>
                    <a:pt x="0" y="0"/>
                  </a:moveTo>
                  <a:lnTo>
                    <a:pt x="13411200" y="0"/>
                  </a:lnTo>
                  <a:lnTo>
                    <a:pt x="134112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2741" r="0" b="-332741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1341120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2D6A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Régression Logistique  ·  Random Forest  ·  CNN 1D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05840" y="9290304"/>
            <a:ext cx="10058400" cy="512064"/>
            <a:chOff x="0" y="0"/>
            <a:chExt cx="13411200" cy="68275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3411200" cy="682752"/>
            </a:xfrm>
            <a:custGeom>
              <a:avLst/>
              <a:gdLst/>
              <a:ahLst/>
              <a:cxnLst/>
              <a:rect r="r" b="b" t="t" l="l"/>
              <a:pathLst>
                <a:path h="682752" w="13411200">
                  <a:moveTo>
                    <a:pt x="0" y="0"/>
                  </a:moveTo>
                  <a:lnTo>
                    <a:pt x="13411200" y="0"/>
                  </a:lnTo>
                  <a:lnTo>
                    <a:pt x="134112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2741" r="0" b="-332741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34112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i="true">
                  <a:solidFill>
                    <a:srgbClr val="999999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Moro et al. (2014). Decision Support Systems, 62, 22-31.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1887200" y="768096"/>
            <a:ext cx="5943600" cy="1316736"/>
            <a:chOff x="0" y="0"/>
            <a:chExt cx="7924800" cy="175564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924800" cy="1755648"/>
            </a:xfrm>
            <a:custGeom>
              <a:avLst/>
              <a:gdLst/>
              <a:ahLst/>
              <a:cxnLst/>
              <a:rect r="r" b="b" t="t" l="l"/>
              <a:pathLst>
                <a:path h="1755648" w="7924800">
                  <a:moveTo>
                    <a:pt x="0" y="0"/>
                  </a:moveTo>
                  <a:lnTo>
                    <a:pt x="7924800" y="0"/>
                  </a:lnTo>
                  <a:lnTo>
                    <a:pt x="7924800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953" r="0" b="-37953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7924800" cy="1774698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8640"/>
                </a:lnSpc>
              </a:pPr>
              <a:r>
                <a:rPr lang="en-US" sz="72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5 000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1887200" y="2083308"/>
            <a:ext cx="5943600" cy="513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888888"/>
                </a:solidFill>
                <a:latin typeface="Calibri (MS)"/>
                <a:ea typeface="Calibri (MS)"/>
                <a:cs typeface="Calibri (MS)"/>
                <a:sym typeface="Calibri (MS)"/>
              </a:rPr>
              <a:t>instances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1887200" y="2999232"/>
            <a:ext cx="5943600" cy="1316736"/>
            <a:chOff x="0" y="0"/>
            <a:chExt cx="7924800" cy="175564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924800" cy="1755648"/>
            </a:xfrm>
            <a:custGeom>
              <a:avLst/>
              <a:gdLst/>
              <a:ahLst/>
              <a:cxnLst/>
              <a:rect r="r" b="b" t="t" l="l"/>
              <a:pathLst>
                <a:path h="1755648" w="7924800">
                  <a:moveTo>
                    <a:pt x="0" y="0"/>
                  </a:moveTo>
                  <a:lnTo>
                    <a:pt x="7924800" y="0"/>
                  </a:lnTo>
                  <a:lnTo>
                    <a:pt x="7924800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953" r="0" b="-37953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19050"/>
              <a:ext cx="7924800" cy="1774698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8640"/>
                </a:lnSpc>
              </a:pPr>
              <a:r>
                <a:rPr lang="en-US" sz="72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20</a:t>
              </a: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11887200" y="4314444"/>
            <a:ext cx="5943600" cy="513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888888"/>
                </a:solidFill>
                <a:latin typeface="Calibri (MS)"/>
                <a:ea typeface="Calibri (MS)"/>
                <a:cs typeface="Calibri (MS)"/>
                <a:sym typeface="Calibri (MS)"/>
              </a:rPr>
              <a:t>features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1887200" y="5230368"/>
            <a:ext cx="5943600" cy="1316736"/>
            <a:chOff x="0" y="0"/>
            <a:chExt cx="7924800" cy="175564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924800" cy="1755648"/>
            </a:xfrm>
            <a:custGeom>
              <a:avLst/>
              <a:gdLst/>
              <a:ahLst/>
              <a:cxnLst/>
              <a:rect r="r" b="b" t="t" l="l"/>
              <a:pathLst>
                <a:path h="1755648" w="7924800">
                  <a:moveTo>
                    <a:pt x="0" y="0"/>
                  </a:moveTo>
                  <a:lnTo>
                    <a:pt x="7924800" y="0"/>
                  </a:lnTo>
                  <a:lnTo>
                    <a:pt x="7924800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953" r="0" b="-37953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19050"/>
              <a:ext cx="7924800" cy="1774698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8640"/>
                </a:lnSpc>
              </a:pPr>
              <a:r>
                <a:rPr lang="en-US" sz="72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2</a:t>
              </a: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11887200" y="6545580"/>
            <a:ext cx="5943600" cy="513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888888"/>
                </a:solidFill>
                <a:latin typeface="Calibri (MS)"/>
                <a:ea typeface="Calibri (MS)"/>
                <a:cs typeface="Calibri (MS)"/>
                <a:sym typeface="Calibri (MS)"/>
              </a:rPr>
              <a:t>classes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11887200" y="7461504"/>
            <a:ext cx="5943600" cy="1316736"/>
            <a:chOff x="0" y="0"/>
            <a:chExt cx="7924800" cy="1755648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924800" cy="1755648"/>
            </a:xfrm>
            <a:custGeom>
              <a:avLst/>
              <a:gdLst/>
              <a:ahLst/>
              <a:cxnLst/>
              <a:rect r="r" b="b" t="t" l="l"/>
              <a:pathLst>
                <a:path h="1755648" w="7924800">
                  <a:moveTo>
                    <a:pt x="0" y="0"/>
                  </a:moveTo>
                  <a:lnTo>
                    <a:pt x="7924800" y="0"/>
                  </a:lnTo>
                  <a:lnTo>
                    <a:pt x="7924800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953" r="0" b="-37953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19050"/>
              <a:ext cx="7924800" cy="1774698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8640"/>
                </a:lnSpc>
              </a:pPr>
              <a:r>
                <a:rPr lang="en-US" sz="72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7,7 %</a:t>
              </a: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11887200" y="8776716"/>
            <a:ext cx="5943600" cy="513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888888"/>
                </a:solidFill>
                <a:latin typeface="Calibri (MS)"/>
                <a:ea typeface="Calibri (MS)"/>
                <a:cs typeface="Calibri (MS)"/>
                <a:sym typeface="Calibri (MS)"/>
              </a:rPr>
              <a:t>taux souscription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01703" y="609095"/>
            <a:ext cx="135131" cy="427739"/>
            <a:chOff x="0" y="0"/>
            <a:chExt cx="180175" cy="5703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0213" cy="570357"/>
            </a:xfrm>
            <a:custGeom>
              <a:avLst/>
              <a:gdLst/>
              <a:ahLst/>
              <a:cxnLst/>
              <a:rect r="r" b="b" t="t" l="l"/>
              <a:pathLst>
                <a:path h="570357" w="180213">
                  <a:moveTo>
                    <a:pt x="0" y="0"/>
                  </a:moveTo>
                  <a:lnTo>
                    <a:pt x="180213" y="0"/>
                  </a:lnTo>
                  <a:lnTo>
                    <a:pt x="180213" y="570357"/>
                  </a:lnTo>
                  <a:lnTo>
                    <a:pt x="0" y="570357"/>
                  </a:lnTo>
                  <a:close/>
                </a:path>
              </a:pathLst>
            </a:custGeom>
            <a:solidFill>
              <a:srgbClr val="2D6A4F"/>
            </a:solidFill>
            <a:ln w="25400" cap="sq">
              <a:solidFill>
                <a:srgbClr val="2D6A4F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243584" y="548640"/>
            <a:ext cx="16093440" cy="548640"/>
            <a:chOff x="0" y="0"/>
            <a:chExt cx="21457920" cy="7315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457920" cy="731520"/>
            </a:xfrm>
            <a:custGeom>
              <a:avLst/>
              <a:gdLst/>
              <a:ahLst/>
              <a:cxnLst/>
              <a:rect r="r" b="b" t="t" l="l"/>
              <a:pathLst>
                <a:path h="73152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1561" r="0" b="-521561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14579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359">
                  <a:solidFill>
                    <a:srgbClr val="2D6A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01 · CONTEXTE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" y="1243584"/>
            <a:ext cx="16459200" cy="1097280"/>
            <a:chOff x="0" y="0"/>
            <a:chExt cx="21945600" cy="14630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2194560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sz="5599" b="true">
                  <a:solidFill>
                    <a:srgbClr val="2B2B2B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Quel problème cherche-t-on à résoudre ?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01703" y="2584199"/>
            <a:ext cx="16484603" cy="43691"/>
            <a:chOff x="0" y="0"/>
            <a:chExt cx="21979471" cy="5825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979510" cy="58293"/>
            </a:xfrm>
            <a:custGeom>
              <a:avLst/>
              <a:gdLst/>
              <a:ahLst/>
              <a:cxnLst/>
              <a:rect r="r" b="b" t="t" l="l"/>
              <a:pathLst>
                <a:path h="58293" w="21979510">
                  <a:moveTo>
                    <a:pt x="0" y="0"/>
                  </a:moveTo>
                  <a:lnTo>
                    <a:pt x="21979510" y="0"/>
                  </a:lnTo>
                  <a:lnTo>
                    <a:pt x="21979510" y="58293"/>
                  </a:lnTo>
                  <a:lnTo>
                    <a:pt x="0" y="58293"/>
                  </a:lnTo>
                  <a:close/>
                </a:path>
              </a:pathLst>
            </a:custGeom>
            <a:solidFill>
              <a:srgbClr val="DDDDDD"/>
            </a:solidFill>
            <a:ln w="25400" cap="sq">
              <a:solidFill>
                <a:srgbClr val="DDDDDD"/>
              </a:solidFill>
              <a:prstDash val="solid"/>
              <a:miter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914400" y="2851404"/>
            <a:ext cx="7955280" cy="1501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555555"/>
                </a:solidFill>
                <a:latin typeface="Calibri (MS)"/>
                <a:ea typeface="Calibri (MS)"/>
                <a:cs typeface="Calibri (MS)"/>
                <a:sym typeface="Calibri (MS)"/>
              </a:rPr>
              <a:t>Une banque portugaise contacte ses clients par téléphone pour leur proposer un dépôt à terme. L'objectif est de prédire si un client va souscrire.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14400" y="4572000"/>
            <a:ext cx="7955280" cy="548640"/>
            <a:chOff x="0" y="0"/>
            <a:chExt cx="10607040" cy="7315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607040" cy="731520"/>
            </a:xfrm>
            <a:custGeom>
              <a:avLst/>
              <a:gdLst/>
              <a:ahLst/>
              <a:cxnLst/>
              <a:rect r="r" b="b" t="t" l="l"/>
              <a:pathLst>
                <a:path h="731520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2533" r="0" b="-232533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1060704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2B2B2B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Objectif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914400" y="5155692"/>
            <a:ext cx="7955280" cy="1043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555555"/>
                </a:solidFill>
                <a:latin typeface="Calibri (MS)"/>
                <a:ea typeface="Calibri (MS)"/>
                <a:cs typeface="Calibri (MS)"/>
                <a:sym typeface="Calibri (MS)"/>
              </a:rPr>
              <a:t>Prédire y ∈ {0, 1} à partir de 20 variables.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555555"/>
                </a:solidFill>
                <a:latin typeface="Calibri (MS)"/>
                <a:ea typeface="Calibri (MS)"/>
                <a:cs typeface="Calibri (MS)"/>
                <a:sym typeface="Calibri (MS)"/>
              </a:rPr>
              <a:t>Classification binaire.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914400" y="6400800"/>
            <a:ext cx="7955280" cy="512064"/>
            <a:chOff x="0" y="0"/>
            <a:chExt cx="10607040" cy="68275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607040" cy="682752"/>
            </a:xfrm>
            <a:custGeom>
              <a:avLst/>
              <a:gdLst/>
              <a:ahLst/>
              <a:cxnLst/>
              <a:rect r="r" b="b" t="t" l="l"/>
              <a:pathLst>
                <a:path h="682752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2713" r="0" b="-252713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1060704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2D6A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Classification binaire  ·  Variable cible : y ∈ {0, 1}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222743" y="2876807"/>
            <a:ext cx="43691" cy="6060443"/>
            <a:chOff x="0" y="0"/>
            <a:chExt cx="58255" cy="808059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8293" cy="8080629"/>
            </a:xfrm>
            <a:custGeom>
              <a:avLst/>
              <a:gdLst/>
              <a:ahLst/>
              <a:cxnLst/>
              <a:rect r="r" b="b" t="t" l="l"/>
              <a:pathLst>
                <a:path h="8080629" w="58293">
                  <a:moveTo>
                    <a:pt x="0" y="0"/>
                  </a:moveTo>
                  <a:lnTo>
                    <a:pt x="58293" y="0"/>
                  </a:lnTo>
                  <a:lnTo>
                    <a:pt x="58293" y="8080629"/>
                  </a:lnTo>
                  <a:lnTo>
                    <a:pt x="0" y="8080629"/>
                  </a:lnTo>
                  <a:close/>
                </a:path>
              </a:pathLst>
            </a:custGeom>
            <a:solidFill>
              <a:srgbClr val="DDDDDD"/>
            </a:solidFill>
            <a:ln w="25400" cap="sq">
              <a:solidFill>
                <a:srgbClr val="DDDDDD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9601200" y="2926080"/>
            <a:ext cx="7772400" cy="512064"/>
            <a:chOff x="0" y="0"/>
            <a:chExt cx="10363200" cy="68275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363200" cy="682752"/>
            </a:xfrm>
            <a:custGeom>
              <a:avLst/>
              <a:gdLst/>
              <a:ahLst/>
              <a:cxnLst/>
              <a:rect r="r" b="b" t="t" l="l"/>
              <a:pathLst>
                <a:path h="682752" w="10363200">
                  <a:moveTo>
                    <a:pt x="0" y="0"/>
                  </a:moveTo>
                  <a:lnTo>
                    <a:pt x="10363200" y="0"/>
                  </a:lnTo>
                  <a:lnTo>
                    <a:pt x="103632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5755" r="0" b="-245755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9525"/>
              <a:ext cx="10363200" cy="6922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2B2B2B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Client</a:t>
              </a: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9601200" y="3454908"/>
            <a:ext cx="7772400" cy="1171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555555"/>
                </a:solidFill>
                <a:latin typeface="Calibri (MS)"/>
                <a:ea typeface="Calibri (MS)"/>
                <a:cs typeface="Calibri (MS)"/>
                <a:sym typeface="Calibri (MS)"/>
              </a:rPr>
              <a:t>âge, métier, situation familiale,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555555"/>
                </a:solidFill>
                <a:latin typeface="Calibri (MS)"/>
                <a:ea typeface="Calibri (MS)"/>
                <a:cs typeface="Calibri (MS)"/>
                <a:sym typeface="Calibri (MS)"/>
              </a:rPr>
              <a:t>éducation, crédit immobilier, prêt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9601200" y="4974336"/>
            <a:ext cx="7772400" cy="512064"/>
            <a:chOff x="0" y="0"/>
            <a:chExt cx="10363200" cy="68275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363200" cy="682752"/>
            </a:xfrm>
            <a:custGeom>
              <a:avLst/>
              <a:gdLst/>
              <a:ahLst/>
              <a:cxnLst/>
              <a:rect r="r" b="b" t="t" l="l"/>
              <a:pathLst>
                <a:path h="682752" w="10363200">
                  <a:moveTo>
                    <a:pt x="0" y="0"/>
                  </a:moveTo>
                  <a:lnTo>
                    <a:pt x="10363200" y="0"/>
                  </a:lnTo>
                  <a:lnTo>
                    <a:pt x="103632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5755" r="0" b="-245755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10363200" cy="6922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2B2B2B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Campagne</a:t>
              </a: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9601200" y="5503164"/>
            <a:ext cx="7772400" cy="1171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555555"/>
                </a:solidFill>
                <a:latin typeface="Calibri (MS)"/>
                <a:ea typeface="Calibri (MS)"/>
                <a:cs typeface="Calibri (MS)"/>
                <a:sym typeface="Calibri (MS)"/>
              </a:rPr>
              <a:t>durée appel, mois, type de contact,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555555"/>
                </a:solidFill>
                <a:latin typeface="Calibri (MS)"/>
                <a:ea typeface="Calibri (MS)"/>
                <a:cs typeface="Calibri (MS)"/>
                <a:sym typeface="Calibri (MS)"/>
              </a:rPr>
              <a:t>nombre de contacts, résultat précédent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9601200" y="7022592"/>
            <a:ext cx="7772400" cy="512064"/>
            <a:chOff x="0" y="0"/>
            <a:chExt cx="10363200" cy="68275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363200" cy="682752"/>
            </a:xfrm>
            <a:custGeom>
              <a:avLst/>
              <a:gdLst/>
              <a:ahLst/>
              <a:cxnLst/>
              <a:rect r="r" b="b" t="t" l="l"/>
              <a:pathLst>
                <a:path h="682752" w="10363200">
                  <a:moveTo>
                    <a:pt x="0" y="0"/>
                  </a:moveTo>
                  <a:lnTo>
                    <a:pt x="10363200" y="0"/>
                  </a:lnTo>
                  <a:lnTo>
                    <a:pt x="103632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5755" r="0" b="-245755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9525"/>
              <a:ext cx="10363200" cy="6922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2B2B2B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Économique</a:t>
              </a: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9601200" y="7551420"/>
            <a:ext cx="7772400" cy="1171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555555"/>
                </a:solidFill>
                <a:latin typeface="Calibri (MS)"/>
                <a:ea typeface="Calibri (MS)"/>
                <a:cs typeface="Calibri (MS)"/>
                <a:sym typeface="Calibri (MS)"/>
              </a:rPr>
              <a:t>Euribor 3 mois, taux emploi,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555555"/>
                </a:solidFill>
                <a:latin typeface="Calibri (MS)"/>
                <a:ea typeface="Calibri (MS)"/>
                <a:cs typeface="Calibri (MS)"/>
                <a:sym typeface="Calibri (MS)"/>
              </a:rPr>
              <a:t>indice de confiance consommateurs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601200" y="8959596"/>
            <a:ext cx="7772400" cy="550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i="true">
                <a:solidFill>
                  <a:srgbClr val="999999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20 variables  ·  5 000 instances  ·  aucune valeur manquante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01703" y="609095"/>
            <a:ext cx="135131" cy="427739"/>
            <a:chOff x="0" y="0"/>
            <a:chExt cx="180175" cy="5703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0213" cy="570357"/>
            </a:xfrm>
            <a:custGeom>
              <a:avLst/>
              <a:gdLst/>
              <a:ahLst/>
              <a:cxnLst/>
              <a:rect r="r" b="b" t="t" l="l"/>
              <a:pathLst>
                <a:path h="570357" w="180213">
                  <a:moveTo>
                    <a:pt x="0" y="0"/>
                  </a:moveTo>
                  <a:lnTo>
                    <a:pt x="180213" y="0"/>
                  </a:lnTo>
                  <a:lnTo>
                    <a:pt x="180213" y="570357"/>
                  </a:lnTo>
                  <a:lnTo>
                    <a:pt x="0" y="570357"/>
                  </a:lnTo>
                  <a:close/>
                </a:path>
              </a:pathLst>
            </a:custGeom>
            <a:solidFill>
              <a:srgbClr val="2D6A4F"/>
            </a:solidFill>
            <a:ln w="25400" cap="sq">
              <a:solidFill>
                <a:srgbClr val="2D6A4F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243584" y="548640"/>
            <a:ext cx="16093440" cy="548640"/>
            <a:chOff x="0" y="0"/>
            <a:chExt cx="21457920" cy="7315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457920" cy="731520"/>
            </a:xfrm>
            <a:custGeom>
              <a:avLst/>
              <a:gdLst/>
              <a:ahLst/>
              <a:cxnLst/>
              <a:rect r="r" b="b" t="t" l="l"/>
              <a:pathLst>
                <a:path h="73152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1561" r="0" b="-521561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14579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359">
                  <a:solidFill>
                    <a:srgbClr val="2D6A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02 · ANALYSE EXPLORATOIRE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" y="1243584"/>
            <a:ext cx="16459200" cy="1097280"/>
            <a:chOff x="0" y="0"/>
            <a:chExt cx="21945600" cy="14630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2194560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sz="5599" b="true">
                  <a:solidFill>
                    <a:srgbClr val="2B2B2B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Les données révèlent déjà beaucoup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01703" y="2584199"/>
            <a:ext cx="16484603" cy="43691"/>
            <a:chOff x="0" y="0"/>
            <a:chExt cx="21979471" cy="5825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979510" cy="58293"/>
            </a:xfrm>
            <a:custGeom>
              <a:avLst/>
              <a:gdLst/>
              <a:ahLst/>
              <a:cxnLst/>
              <a:rect r="r" b="b" t="t" l="l"/>
              <a:pathLst>
                <a:path h="58293" w="21979510">
                  <a:moveTo>
                    <a:pt x="0" y="0"/>
                  </a:moveTo>
                  <a:lnTo>
                    <a:pt x="21979510" y="0"/>
                  </a:lnTo>
                  <a:lnTo>
                    <a:pt x="21979510" y="58293"/>
                  </a:lnTo>
                  <a:lnTo>
                    <a:pt x="0" y="58293"/>
                  </a:lnTo>
                  <a:close/>
                </a:path>
              </a:pathLst>
            </a:custGeom>
            <a:solidFill>
              <a:srgbClr val="DDDDDD"/>
            </a:solidFill>
            <a:ln w="25400" cap="sq">
              <a:solidFill>
                <a:srgbClr val="DDDDDD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914400" y="2852928"/>
            <a:ext cx="16459200" cy="6547104"/>
            <a:chOff x="0" y="0"/>
            <a:chExt cx="21945600" cy="8729472"/>
          </a:xfrm>
        </p:grpSpPr>
        <p:sp>
          <p:nvSpPr>
            <p:cNvPr name="Freeform 13" id="13" descr="preencoded.png"/>
            <p:cNvSpPr/>
            <p:nvPr/>
          </p:nvSpPr>
          <p:spPr>
            <a:xfrm flipH="false" flipV="false" rot="0">
              <a:off x="0" y="0"/>
              <a:ext cx="21945600" cy="8729472"/>
            </a:xfrm>
            <a:custGeom>
              <a:avLst/>
              <a:gdLst/>
              <a:ahLst/>
              <a:cxnLst/>
              <a:rect r="r" b="b" t="t" l="l"/>
              <a:pathLst>
                <a:path h="8729472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8729472"/>
                  </a:lnTo>
                  <a:lnTo>
                    <a:pt x="0" y="87294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3894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14400" y="9692640"/>
            <a:ext cx="16459200" cy="365760"/>
            <a:chOff x="0" y="0"/>
            <a:chExt cx="21945600" cy="4876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945600" cy="487680"/>
            </a:xfrm>
            <a:custGeom>
              <a:avLst/>
              <a:gdLst/>
              <a:ahLst/>
              <a:cxnLst/>
              <a:rect r="r" b="b" t="t" l="l"/>
              <a:pathLst>
                <a:path h="4876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26826" r="0" b="-826826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2194560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i="true">
                  <a:solidFill>
                    <a:srgbClr val="999999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Gauche : fort déséquilibre (92,3 % non-souscription).  Droite : les souscripteurs ont une durée d'appel médiane sensiblement plus longue (415 s vs 258 s).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01703" y="609095"/>
            <a:ext cx="135131" cy="427739"/>
            <a:chOff x="0" y="0"/>
            <a:chExt cx="180175" cy="5703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0213" cy="570357"/>
            </a:xfrm>
            <a:custGeom>
              <a:avLst/>
              <a:gdLst/>
              <a:ahLst/>
              <a:cxnLst/>
              <a:rect r="r" b="b" t="t" l="l"/>
              <a:pathLst>
                <a:path h="570357" w="180213">
                  <a:moveTo>
                    <a:pt x="0" y="0"/>
                  </a:moveTo>
                  <a:lnTo>
                    <a:pt x="180213" y="0"/>
                  </a:lnTo>
                  <a:lnTo>
                    <a:pt x="180213" y="570357"/>
                  </a:lnTo>
                  <a:lnTo>
                    <a:pt x="0" y="570357"/>
                  </a:lnTo>
                  <a:close/>
                </a:path>
              </a:pathLst>
            </a:custGeom>
            <a:solidFill>
              <a:srgbClr val="2D6A4F"/>
            </a:solidFill>
            <a:ln w="25400" cap="sq">
              <a:solidFill>
                <a:srgbClr val="2D6A4F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243584" y="548640"/>
            <a:ext cx="16093440" cy="548640"/>
            <a:chOff x="0" y="0"/>
            <a:chExt cx="21457920" cy="7315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457920" cy="731520"/>
            </a:xfrm>
            <a:custGeom>
              <a:avLst/>
              <a:gdLst/>
              <a:ahLst/>
              <a:cxnLst/>
              <a:rect r="r" b="b" t="t" l="l"/>
              <a:pathLst>
                <a:path h="73152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1561" r="0" b="-521561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14579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359">
                  <a:solidFill>
                    <a:srgbClr val="2D6A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02 · ANALYSE EXPLORATOIRE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" y="1243584"/>
            <a:ext cx="16459200" cy="1097280"/>
            <a:chOff x="0" y="0"/>
            <a:chExt cx="21945600" cy="14630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2194560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sz="5599" b="true">
                  <a:solidFill>
                    <a:srgbClr val="2B2B2B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Tous les profils ne se ressemblent pas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01703" y="2584199"/>
            <a:ext cx="16484603" cy="43691"/>
            <a:chOff x="0" y="0"/>
            <a:chExt cx="21979471" cy="5825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979510" cy="58293"/>
            </a:xfrm>
            <a:custGeom>
              <a:avLst/>
              <a:gdLst/>
              <a:ahLst/>
              <a:cxnLst/>
              <a:rect r="r" b="b" t="t" l="l"/>
              <a:pathLst>
                <a:path h="58293" w="21979510">
                  <a:moveTo>
                    <a:pt x="0" y="0"/>
                  </a:moveTo>
                  <a:lnTo>
                    <a:pt x="21979510" y="0"/>
                  </a:lnTo>
                  <a:lnTo>
                    <a:pt x="21979510" y="58293"/>
                  </a:lnTo>
                  <a:lnTo>
                    <a:pt x="0" y="58293"/>
                  </a:lnTo>
                  <a:close/>
                </a:path>
              </a:pathLst>
            </a:custGeom>
            <a:solidFill>
              <a:srgbClr val="DDDDDD"/>
            </a:solidFill>
            <a:ln w="25400" cap="sq">
              <a:solidFill>
                <a:srgbClr val="DDDDDD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914400" y="2852928"/>
            <a:ext cx="16459200" cy="6547104"/>
            <a:chOff x="0" y="0"/>
            <a:chExt cx="21945600" cy="8729472"/>
          </a:xfrm>
        </p:grpSpPr>
        <p:sp>
          <p:nvSpPr>
            <p:cNvPr name="Freeform 13" id="13" descr="preencoded.png"/>
            <p:cNvSpPr/>
            <p:nvPr/>
          </p:nvSpPr>
          <p:spPr>
            <a:xfrm flipH="false" flipV="false" rot="0">
              <a:off x="0" y="0"/>
              <a:ext cx="21945600" cy="8729472"/>
            </a:xfrm>
            <a:custGeom>
              <a:avLst/>
              <a:gdLst/>
              <a:ahLst/>
              <a:cxnLst/>
              <a:rect r="r" b="b" t="t" l="l"/>
              <a:pathLst>
                <a:path h="8729472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8729472"/>
                  </a:lnTo>
                  <a:lnTo>
                    <a:pt x="0" y="87294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-24838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14400" y="9692640"/>
            <a:ext cx="16459200" cy="365760"/>
            <a:chOff x="0" y="0"/>
            <a:chExt cx="21945600" cy="4876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945600" cy="487680"/>
            </a:xfrm>
            <a:custGeom>
              <a:avLst/>
              <a:gdLst/>
              <a:ahLst/>
              <a:cxnLst/>
              <a:rect r="r" b="b" t="t" l="l"/>
              <a:pathLst>
                <a:path h="4876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26826" r="0" b="-826826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2194560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i="true">
                  <a:solidFill>
                    <a:srgbClr val="999999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Les retraités et étudiants ont les taux de souscription les plus élevés. Le métier est une variable utile pour cibler les campagnes.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01703" y="609095"/>
            <a:ext cx="135131" cy="427739"/>
            <a:chOff x="0" y="0"/>
            <a:chExt cx="180175" cy="5703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0213" cy="570357"/>
            </a:xfrm>
            <a:custGeom>
              <a:avLst/>
              <a:gdLst/>
              <a:ahLst/>
              <a:cxnLst/>
              <a:rect r="r" b="b" t="t" l="l"/>
              <a:pathLst>
                <a:path h="570357" w="180213">
                  <a:moveTo>
                    <a:pt x="0" y="0"/>
                  </a:moveTo>
                  <a:lnTo>
                    <a:pt x="180213" y="0"/>
                  </a:lnTo>
                  <a:lnTo>
                    <a:pt x="180213" y="570357"/>
                  </a:lnTo>
                  <a:lnTo>
                    <a:pt x="0" y="570357"/>
                  </a:lnTo>
                  <a:close/>
                </a:path>
              </a:pathLst>
            </a:custGeom>
            <a:solidFill>
              <a:srgbClr val="2D6A4F"/>
            </a:solidFill>
            <a:ln w="25400" cap="sq">
              <a:solidFill>
                <a:srgbClr val="2D6A4F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243584" y="548640"/>
            <a:ext cx="16093440" cy="548640"/>
            <a:chOff x="0" y="0"/>
            <a:chExt cx="21457920" cy="7315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457920" cy="731520"/>
            </a:xfrm>
            <a:custGeom>
              <a:avLst/>
              <a:gdLst/>
              <a:ahLst/>
              <a:cxnLst/>
              <a:rect r="r" b="b" t="t" l="l"/>
              <a:pathLst>
                <a:path h="73152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1561" r="0" b="-521561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14579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359">
                  <a:solidFill>
                    <a:srgbClr val="2D6A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03 · PRÉTRAITEMENT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" y="1243584"/>
            <a:ext cx="16459200" cy="1097280"/>
            <a:chOff x="0" y="0"/>
            <a:chExt cx="21945600" cy="14630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2194560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sz="5599" b="true">
                  <a:solidFill>
                    <a:srgbClr val="2B2B2B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Pipeline de préparation des données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01703" y="2584199"/>
            <a:ext cx="16484603" cy="43691"/>
            <a:chOff x="0" y="0"/>
            <a:chExt cx="21979471" cy="5825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979510" cy="58293"/>
            </a:xfrm>
            <a:custGeom>
              <a:avLst/>
              <a:gdLst/>
              <a:ahLst/>
              <a:cxnLst/>
              <a:rect r="r" b="b" t="t" l="l"/>
              <a:pathLst>
                <a:path h="58293" w="21979510">
                  <a:moveTo>
                    <a:pt x="0" y="0"/>
                  </a:moveTo>
                  <a:lnTo>
                    <a:pt x="21979510" y="0"/>
                  </a:lnTo>
                  <a:lnTo>
                    <a:pt x="21979510" y="58293"/>
                  </a:lnTo>
                  <a:lnTo>
                    <a:pt x="0" y="58293"/>
                  </a:lnTo>
                  <a:close/>
                </a:path>
              </a:pathLst>
            </a:custGeom>
            <a:solidFill>
              <a:srgbClr val="DDDDDD"/>
            </a:solidFill>
            <a:ln w="25400" cap="sq">
              <a:solidFill>
                <a:srgbClr val="DDDDDD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956567" y="2931671"/>
            <a:ext cx="3865883" cy="4688843"/>
            <a:chOff x="0" y="0"/>
            <a:chExt cx="5154511" cy="625179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154549" cy="6251829"/>
            </a:xfrm>
            <a:custGeom>
              <a:avLst/>
              <a:gdLst/>
              <a:ahLst/>
              <a:cxnLst/>
              <a:rect r="r" b="b" t="t" l="l"/>
              <a:pathLst>
                <a:path h="6251829" w="5154549">
                  <a:moveTo>
                    <a:pt x="0" y="0"/>
                  </a:moveTo>
                  <a:lnTo>
                    <a:pt x="5154549" y="0"/>
                  </a:lnTo>
                  <a:lnTo>
                    <a:pt x="5154549" y="6251829"/>
                  </a:lnTo>
                  <a:lnTo>
                    <a:pt x="0" y="6251829"/>
                  </a:lnTo>
                  <a:close/>
                </a:path>
              </a:pathLst>
            </a:custGeom>
            <a:solidFill>
              <a:srgbClr val="DEDEDD"/>
            </a:solidFill>
            <a:ln w="25400" cap="sq">
              <a:solidFill>
                <a:srgbClr val="DEDEDD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908047" y="2883151"/>
            <a:ext cx="3853177" cy="4676137"/>
            <a:chOff x="0" y="0"/>
            <a:chExt cx="5137569" cy="623484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137531" cy="6234811"/>
            </a:xfrm>
            <a:custGeom>
              <a:avLst/>
              <a:gdLst/>
              <a:ahLst/>
              <a:cxnLst/>
              <a:rect r="r" b="b" t="t" l="l"/>
              <a:pathLst>
                <a:path h="6234811" w="5137531">
                  <a:moveTo>
                    <a:pt x="0" y="0"/>
                  </a:moveTo>
                  <a:lnTo>
                    <a:pt x="5137531" y="0"/>
                  </a:lnTo>
                  <a:lnTo>
                    <a:pt x="5137531" y="6234811"/>
                  </a:lnTo>
                  <a:lnTo>
                    <a:pt x="0" y="6234811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DDDDDD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914400" y="3145536"/>
            <a:ext cx="3840480" cy="1005840"/>
            <a:chOff x="0" y="0"/>
            <a:chExt cx="5120640" cy="13411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120640" cy="1341120"/>
            </a:xfrm>
            <a:custGeom>
              <a:avLst/>
              <a:gdLst/>
              <a:ahLst/>
              <a:cxnLst/>
              <a:rect r="r" b="b" t="t" l="l"/>
              <a:pathLst>
                <a:path h="134112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397" r="0" b="-24397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9525"/>
              <a:ext cx="5120640" cy="13506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sz="6000" b="true">
                  <a:solidFill>
                    <a:srgbClr val="2D6A4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133856" y="4279392"/>
            <a:ext cx="3401568" cy="950976"/>
            <a:chOff x="0" y="0"/>
            <a:chExt cx="4535424" cy="126796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535424" cy="1267968"/>
            </a:xfrm>
            <a:custGeom>
              <a:avLst/>
              <a:gdLst/>
              <a:ahLst/>
              <a:cxnLst/>
              <a:rect r="r" b="b" t="t" l="l"/>
              <a:pathLst>
                <a:path h="1267968" w="4535424">
                  <a:moveTo>
                    <a:pt x="0" y="0"/>
                  </a:moveTo>
                  <a:lnTo>
                    <a:pt x="4535424" y="0"/>
                  </a:lnTo>
                  <a:lnTo>
                    <a:pt x="4535424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696" r="0" b="-19696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9525"/>
              <a:ext cx="4535424" cy="12774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2B2B2B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Label Encoding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267463" y="5290823"/>
            <a:ext cx="3134363" cy="43691"/>
            <a:chOff x="0" y="0"/>
            <a:chExt cx="4179151" cy="58255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179189" cy="58293"/>
            </a:xfrm>
            <a:custGeom>
              <a:avLst/>
              <a:gdLst/>
              <a:ahLst/>
              <a:cxnLst/>
              <a:rect r="r" b="b" t="t" l="l"/>
              <a:pathLst>
                <a:path h="58293" w="4179189">
                  <a:moveTo>
                    <a:pt x="0" y="0"/>
                  </a:moveTo>
                  <a:lnTo>
                    <a:pt x="4179189" y="0"/>
                  </a:lnTo>
                  <a:lnTo>
                    <a:pt x="4179189" y="58293"/>
                  </a:lnTo>
                  <a:lnTo>
                    <a:pt x="0" y="58293"/>
                  </a:lnTo>
                  <a:close/>
                </a:path>
              </a:pathLst>
            </a:custGeom>
            <a:solidFill>
              <a:srgbClr val="DDDDDD"/>
            </a:solidFill>
            <a:ln w="25400" cap="sq">
              <a:solidFill>
                <a:srgbClr val="DDDDDD"/>
              </a:solidFill>
              <a:prstDash val="solid"/>
              <a:miter/>
            </a:ln>
          </p:spPr>
        </p:sp>
      </p:grpSp>
      <p:sp>
        <p:nvSpPr>
          <p:cNvPr name="TextBox 24" id="24"/>
          <p:cNvSpPr txBox="true"/>
          <p:nvPr/>
        </p:nvSpPr>
        <p:spPr>
          <a:xfrm rot="0">
            <a:off x="1097280" y="5511927"/>
            <a:ext cx="3474720" cy="1784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0"/>
              </a:lnSpc>
            </a:pPr>
            <a:r>
              <a:rPr lang="en-US" sz="2200">
                <a:solidFill>
                  <a:srgbClr val="555555"/>
                </a:solidFill>
                <a:latin typeface="Calibri (MS)"/>
                <a:ea typeface="Calibri (MS)"/>
                <a:cs typeface="Calibri (MS)"/>
                <a:sym typeface="Calibri (MS)"/>
              </a:rPr>
              <a:t>10 variables</a:t>
            </a:r>
          </a:p>
          <a:p>
            <a:pPr algn="ctr">
              <a:lnSpc>
                <a:spcPts val="2640"/>
              </a:lnSpc>
            </a:pPr>
            <a:r>
              <a:rPr lang="en-US" sz="2200">
                <a:solidFill>
                  <a:srgbClr val="555555"/>
                </a:solidFill>
                <a:latin typeface="Calibri (MS)"/>
                <a:ea typeface="Calibri (MS)"/>
                <a:cs typeface="Calibri (MS)"/>
                <a:sym typeface="Calibri (MS)"/>
              </a:rPr>
              <a:t>catégorielles</a:t>
            </a:r>
          </a:p>
          <a:p>
            <a:pPr algn="ctr">
              <a:lnSpc>
                <a:spcPts val="2640"/>
              </a:lnSpc>
            </a:pPr>
            <a:r>
              <a:rPr lang="en-US" sz="2200">
                <a:solidFill>
                  <a:srgbClr val="555555"/>
                </a:solidFill>
                <a:latin typeface="Calibri (MS)"/>
                <a:ea typeface="Calibri (MS)"/>
                <a:cs typeface="Calibri (MS)"/>
                <a:sym typeface="Calibri (MS)"/>
              </a:rPr>
              <a:t>→ entiers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4815335" y="5199383"/>
            <a:ext cx="244859" cy="43691"/>
            <a:chOff x="0" y="0"/>
            <a:chExt cx="326479" cy="58255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26517" cy="58293"/>
            </a:xfrm>
            <a:custGeom>
              <a:avLst/>
              <a:gdLst/>
              <a:ahLst/>
              <a:cxnLst/>
              <a:rect r="r" b="b" t="t" l="l"/>
              <a:pathLst>
                <a:path h="58293" w="326517">
                  <a:moveTo>
                    <a:pt x="0" y="0"/>
                  </a:moveTo>
                  <a:lnTo>
                    <a:pt x="326517" y="0"/>
                  </a:lnTo>
                  <a:lnTo>
                    <a:pt x="326517" y="58293"/>
                  </a:lnTo>
                  <a:lnTo>
                    <a:pt x="0" y="58293"/>
                  </a:lnTo>
                  <a:close/>
                </a:path>
              </a:pathLst>
            </a:custGeom>
            <a:solidFill>
              <a:srgbClr val="999999"/>
            </a:solidFill>
            <a:ln w="25400" cap="sq">
              <a:solidFill>
                <a:srgbClr val="999999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5162807" y="2931671"/>
            <a:ext cx="3865883" cy="4688843"/>
            <a:chOff x="0" y="0"/>
            <a:chExt cx="5154511" cy="6251791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154549" cy="6251829"/>
            </a:xfrm>
            <a:custGeom>
              <a:avLst/>
              <a:gdLst/>
              <a:ahLst/>
              <a:cxnLst/>
              <a:rect r="r" b="b" t="t" l="l"/>
              <a:pathLst>
                <a:path h="6251829" w="5154549">
                  <a:moveTo>
                    <a:pt x="0" y="0"/>
                  </a:moveTo>
                  <a:lnTo>
                    <a:pt x="5154549" y="0"/>
                  </a:lnTo>
                  <a:lnTo>
                    <a:pt x="5154549" y="6251829"/>
                  </a:lnTo>
                  <a:lnTo>
                    <a:pt x="0" y="6251829"/>
                  </a:lnTo>
                  <a:close/>
                </a:path>
              </a:pathLst>
            </a:custGeom>
            <a:solidFill>
              <a:srgbClr val="DEDEDD"/>
            </a:solidFill>
            <a:ln w="25400" cap="sq">
              <a:solidFill>
                <a:srgbClr val="DEDEDD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5114287" y="2883151"/>
            <a:ext cx="3853177" cy="4676137"/>
            <a:chOff x="0" y="0"/>
            <a:chExt cx="5137569" cy="6234849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137531" cy="6234811"/>
            </a:xfrm>
            <a:custGeom>
              <a:avLst/>
              <a:gdLst/>
              <a:ahLst/>
              <a:cxnLst/>
              <a:rect r="r" b="b" t="t" l="l"/>
              <a:pathLst>
                <a:path h="6234811" w="5137531">
                  <a:moveTo>
                    <a:pt x="0" y="0"/>
                  </a:moveTo>
                  <a:lnTo>
                    <a:pt x="5137531" y="0"/>
                  </a:lnTo>
                  <a:lnTo>
                    <a:pt x="5137531" y="6234811"/>
                  </a:lnTo>
                  <a:lnTo>
                    <a:pt x="0" y="6234811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DDDDDD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5120640" y="3145536"/>
            <a:ext cx="3840480" cy="1005840"/>
            <a:chOff x="0" y="0"/>
            <a:chExt cx="5120640" cy="134112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5120640" cy="1341120"/>
            </a:xfrm>
            <a:custGeom>
              <a:avLst/>
              <a:gdLst/>
              <a:ahLst/>
              <a:cxnLst/>
              <a:rect r="r" b="b" t="t" l="l"/>
              <a:pathLst>
                <a:path h="134112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397" r="0" b="-24397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9525"/>
              <a:ext cx="5120640" cy="13506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sz="6000" b="true">
                  <a:solidFill>
                    <a:srgbClr val="2D6A4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2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5340096" y="4279392"/>
            <a:ext cx="3401568" cy="950976"/>
            <a:chOff x="0" y="0"/>
            <a:chExt cx="4535424" cy="1267968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4535424" cy="1267968"/>
            </a:xfrm>
            <a:custGeom>
              <a:avLst/>
              <a:gdLst/>
              <a:ahLst/>
              <a:cxnLst/>
              <a:rect r="r" b="b" t="t" l="l"/>
              <a:pathLst>
                <a:path h="1267968" w="4535424">
                  <a:moveTo>
                    <a:pt x="0" y="0"/>
                  </a:moveTo>
                  <a:lnTo>
                    <a:pt x="4535424" y="0"/>
                  </a:lnTo>
                  <a:lnTo>
                    <a:pt x="4535424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696" r="0" b="-19696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9525"/>
              <a:ext cx="4535424" cy="12774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2B2B2B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Train / Test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5473703" y="5290823"/>
            <a:ext cx="3134363" cy="43691"/>
            <a:chOff x="0" y="0"/>
            <a:chExt cx="4179151" cy="58255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4179189" cy="58293"/>
            </a:xfrm>
            <a:custGeom>
              <a:avLst/>
              <a:gdLst/>
              <a:ahLst/>
              <a:cxnLst/>
              <a:rect r="r" b="b" t="t" l="l"/>
              <a:pathLst>
                <a:path h="58293" w="4179189">
                  <a:moveTo>
                    <a:pt x="0" y="0"/>
                  </a:moveTo>
                  <a:lnTo>
                    <a:pt x="4179189" y="0"/>
                  </a:lnTo>
                  <a:lnTo>
                    <a:pt x="4179189" y="58293"/>
                  </a:lnTo>
                  <a:lnTo>
                    <a:pt x="0" y="58293"/>
                  </a:lnTo>
                  <a:close/>
                </a:path>
              </a:pathLst>
            </a:custGeom>
            <a:solidFill>
              <a:srgbClr val="DDDDDD"/>
            </a:solidFill>
            <a:ln w="25400" cap="sq">
              <a:solidFill>
                <a:srgbClr val="DDDDDD"/>
              </a:solidFill>
              <a:prstDash val="solid"/>
              <a:miter/>
            </a:ln>
          </p:spPr>
        </p:sp>
      </p:grpSp>
      <p:sp>
        <p:nvSpPr>
          <p:cNvPr name="TextBox 39" id="39"/>
          <p:cNvSpPr txBox="true"/>
          <p:nvPr/>
        </p:nvSpPr>
        <p:spPr>
          <a:xfrm rot="0">
            <a:off x="5303520" y="5511927"/>
            <a:ext cx="3474720" cy="1784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0"/>
              </a:lnSpc>
            </a:pPr>
            <a:r>
              <a:rPr lang="en-US" sz="2200">
                <a:solidFill>
                  <a:srgbClr val="555555"/>
                </a:solidFill>
                <a:latin typeface="Calibri (MS)"/>
                <a:ea typeface="Calibri (MS)"/>
                <a:cs typeface="Calibri (MS)"/>
                <a:sym typeface="Calibri (MS)"/>
              </a:rPr>
              <a:t>80 % train</a:t>
            </a:r>
          </a:p>
          <a:p>
            <a:pPr algn="ctr">
              <a:lnSpc>
                <a:spcPts val="2640"/>
              </a:lnSpc>
            </a:pPr>
            <a:r>
              <a:rPr lang="en-US" sz="2200">
                <a:solidFill>
                  <a:srgbClr val="555555"/>
                </a:solidFill>
                <a:latin typeface="Calibri (MS)"/>
                <a:ea typeface="Calibri (MS)"/>
                <a:cs typeface="Calibri (MS)"/>
                <a:sym typeface="Calibri (MS)"/>
              </a:rPr>
              <a:t>20 % test</a:t>
            </a:r>
          </a:p>
          <a:p>
            <a:pPr algn="ctr">
              <a:lnSpc>
                <a:spcPts val="2640"/>
              </a:lnSpc>
            </a:pPr>
            <a:r>
              <a:rPr lang="en-US" sz="2200">
                <a:solidFill>
                  <a:srgbClr val="555555"/>
                </a:solidFill>
                <a:latin typeface="Calibri (MS)"/>
                <a:ea typeface="Calibri (MS)"/>
                <a:cs typeface="Calibri (MS)"/>
                <a:sym typeface="Calibri (MS)"/>
              </a:rPr>
              <a:t>stratifié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9021575" y="5199383"/>
            <a:ext cx="244859" cy="43691"/>
            <a:chOff x="0" y="0"/>
            <a:chExt cx="326479" cy="58255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326517" cy="58293"/>
            </a:xfrm>
            <a:custGeom>
              <a:avLst/>
              <a:gdLst/>
              <a:ahLst/>
              <a:cxnLst/>
              <a:rect r="r" b="b" t="t" l="l"/>
              <a:pathLst>
                <a:path h="58293" w="326517">
                  <a:moveTo>
                    <a:pt x="0" y="0"/>
                  </a:moveTo>
                  <a:lnTo>
                    <a:pt x="326517" y="0"/>
                  </a:lnTo>
                  <a:lnTo>
                    <a:pt x="326517" y="58293"/>
                  </a:lnTo>
                  <a:lnTo>
                    <a:pt x="0" y="58293"/>
                  </a:lnTo>
                  <a:close/>
                </a:path>
              </a:pathLst>
            </a:custGeom>
            <a:solidFill>
              <a:srgbClr val="999999"/>
            </a:solidFill>
            <a:ln w="25400" cap="sq">
              <a:solidFill>
                <a:srgbClr val="999999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9369047" y="2931671"/>
            <a:ext cx="3865883" cy="4688843"/>
            <a:chOff x="0" y="0"/>
            <a:chExt cx="5154511" cy="6251791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5154549" cy="6251829"/>
            </a:xfrm>
            <a:custGeom>
              <a:avLst/>
              <a:gdLst/>
              <a:ahLst/>
              <a:cxnLst/>
              <a:rect r="r" b="b" t="t" l="l"/>
              <a:pathLst>
                <a:path h="6251829" w="5154549">
                  <a:moveTo>
                    <a:pt x="0" y="0"/>
                  </a:moveTo>
                  <a:lnTo>
                    <a:pt x="5154549" y="0"/>
                  </a:lnTo>
                  <a:lnTo>
                    <a:pt x="5154549" y="6251829"/>
                  </a:lnTo>
                  <a:lnTo>
                    <a:pt x="0" y="6251829"/>
                  </a:lnTo>
                  <a:close/>
                </a:path>
              </a:pathLst>
            </a:custGeom>
            <a:solidFill>
              <a:srgbClr val="DEDEDD"/>
            </a:solidFill>
            <a:ln w="25400" cap="sq">
              <a:solidFill>
                <a:srgbClr val="DEDEDD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9320527" y="2883151"/>
            <a:ext cx="3853177" cy="4676137"/>
            <a:chOff x="0" y="0"/>
            <a:chExt cx="5137569" cy="6234849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137531" cy="6234811"/>
            </a:xfrm>
            <a:custGeom>
              <a:avLst/>
              <a:gdLst/>
              <a:ahLst/>
              <a:cxnLst/>
              <a:rect r="r" b="b" t="t" l="l"/>
              <a:pathLst>
                <a:path h="6234811" w="5137531">
                  <a:moveTo>
                    <a:pt x="0" y="0"/>
                  </a:moveTo>
                  <a:lnTo>
                    <a:pt x="5137531" y="0"/>
                  </a:lnTo>
                  <a:lnTo>
                    <a:pt x="5137531" y="6234811"/>
                  </a:lnTo>
                  <a:lnTo>
                    <a:pt x="0" y="6234811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DDDDDD"/>
              </a:solidFill>
              <a:prstDash val="solid"/>
              <a:miter/>
            </a:ln>
          </p:spPr>
        </p:sp>
      </p:grpSp>
      <p:grpSp>
        <p:nvGrpSpPr>
          <p:cNvPr name="Group 46" id="46"/>
          <p:cNvGrpSpPr/>
          <p:nvPr/>
        </p:nvGrpSpPr>
        <p:grpSpPr>
          <a:xfrm rot="0">
            <a:off x="9326880" y="3145536"/>
            <a:ext cx="3840480" cy="1005840"/>
            <a:chOff x="0" y="0"/>
            <a:chExt cx="5120640" cy="134112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5120640" cy="1341120"/>
            </a:xfrm>
            <a:custGeom>
              <a:avLst/>
              <a:gdLst/>
              <a:ahLst/>
              <a:cxnLst/>
              <a:rect r="r" b="b" t="t" l="l"/>
              <a:pathLst>
                <a:path h="134112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397" r="0" b="-24397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9525"/>
              <a:ext cx="5120640" cy="13506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sz="6000" b="true">
                  <a:solidFill>
                    <a:srgbClr val="2D6A4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3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9546336" y="4279392"/>
            <a:ext cx="3401568" cy="950976"/>
            <a:chOff x="0" y="0"/>
            <a:chExt cx="4535424" cy="1267968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4535424" cy="1267968"/>
            </a:xfrm>
            <a:custGeom>
              <a:avLst/>
              <a:gdLst/>
              <a:ahLst/>
              <a:cxnLst/>
              <a:rect r="r" b="b" t="t" l="l"/>
              <a:pathLst>
                <a:path h="1267968" w="4535424">
                  <a:moveTo>
                    <a:pt x="0" y="0"/>
                  </a:moveTo>
                  <a:lnTo>
                    <a:pt x="4535424" y="0"/>
                  </a:lnTo>
                  <a:lnTo>
                    <a:pt x="4535424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696" r="0" b="-19696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9525"/>
              <a:ext cx="4535424" cy="12774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2B2B2B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SMOTE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9679943" y="5290823"/>
            <a:ext cx="3134363" cy="43691"/>
            <a:chOff x="0" y="0"/>
            <a:chExt cx="4179151" cy="58255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4179189" cy="58293"/>
            </a:xfrm>
            <a:custGeom>
              <a:avLst/>
              <a:gdLst/>
              <a:ahLst/>
              <a:cxnLst/>
              <a:rect r="r" b="b" t="t" l="l"/>
              <a:pathLst>
                <a:path h="58293" w="4179189">
                  <a:moveTo>
                    <a:pt x="0" y="0"/>
                  </a:moveTo>
                  <a:lnTo>
                    <a:pt x="4179189" y="0"/>
                  </a:lnTo>
                  <a:lnTo>
                    <a:pt x="4179189" y="58293"/>
                  </a:lnTo>
                  <a:lnTo>
                    <a:pt x="0" y="58293"/>
                  </a:lnTo>
                  <a:close/>
                </a:path>
              </a:pathLst>
            </a:custGeom>
            <a:solidFill>
              <a:srgbClr val="DDDDDD"/>
            </a:solidFill>
            <a:ln w="25400" cap="sq">
              <a:solidFill>
                <a:srgbClr val="DDDDDD"/>
              </a:solidFill>
              <a:prstDash val="solid"/>
              <a:miter/>
            </a:ln>
          </p:spPr>
        </p:sp>
      </p:grpSp>
      <p:sp>
        <p:nvSpPr>
          <p:cNvPr name="TextBox 54" id="54"/>
          <p:cNvSpPr txBox="true"/>
          <p:nvPr/>
        </p:nvSpPr>
        <p:spPr>
          <a:xfrm rot="0">
            <a:off x="9509760" y="5511927"/>
            <a:ext cx="3474720" cy="1784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0"/>
              </a:lnSpc>
            </a:pPr>
            <a:r>
              <a:rPr lang="en-US" sz="2200">
                <a:solidFill>
                  <a:srgbClr val="555555"/>
                </a:solidFill>
                <a:latin typeface="Calibri (MS)"/>
                <a:ea typeface="Calibri (MS)"/>
                <a:cs typeface="Calibri (MS)"/>
                <a:sym typeface="Calibri (MS)"/>
              </a:rPr>
              <a:t>Synthèse de la</a:t>
            </a:r>
          </a:p>
          <a:p>
            <a:pPr algn="ctr">
              <a:lnSpc>
                <a:spcPts val="2640"/>
              </a:lnSpc>
            </a:pPr>
            <a:r>
              <a:rPr lang="en-US" sz="2200">
                <a:solidFill>
                  <a:srgbClr val="555555"/>
                </a:solidFill>
                <a:latin typeface="Calibri (MS)"/>
                <a:ea typeface="Calibri (MS)"/>
                <a:cs typeface="Calibri (MS)"/>
                <a:sym typeface="Calibri (MS)"/>
              </a:rPr>
              <a:t>classe minoritaire</a:t>
            </a:r>
          </a:p>
          <a:p>
            <a:pPr algn="ctr">
              <a:lnSpc>
                <a:spcPts val="2640"/>
              </a:lnSpc>
            </a:pPr>
            <a:r>
              <a:rPr lang="en-US" sz="2200">
                <a:solidFill>
                  <a:srgbClr val="555555"/>
                </a:solidFill>
                <a:latin typeface="Calibri (MS)"/>
                <a:ea typeface="Calibri (MS)"/>
                <a:cs typeface="Calibri (MS)"/>
                <a:sym typeface="Calibri (MS)"/>
              </a:rPr>
              <a:t>sur le train set</a:t>
            </a:r>
          </a:p>
        </p:txBody>
      </p:sp>
      <p:grpSp>
        <p:nvGrpSpPr>
          <p:cNvPr name="Group 55" id="55"/>
          <p:cNvGrpSpPr/>
          <p:nvPr/>
        </p:nvGrpSpPr>
        <p:grpSpPr>
          <a:xfrm rot="0">
            <a:off x="13227815" y="5199383"/>
            <a:ext cx="244859" cy="43691"/>
            <a:chOff x="0" y="0"/>
            <a:chExt cx="326479" cy="58255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326517" cy="58293"/>
            </a:xfrm>
            <a:custGeom>
              <a:avLst/>
              <a:gdLst/>
              <a:ahLst/>
              <a:cxnLst/>
              <a:rect r="r" b="b" t="t" l="l"/>
              <a:pathLst>
                <a:path h="58293" w="326517">
                  <a:moveTo>
                    <a:pt x="0" y="0"/>
                  </a:moveTo>
                  <a:lnTo>
                    <a:pt x="326517" y="0"/>
                  </a:lnTo>
                  <a:lnTo>
                    <a:pt x="326517" y="58293"/>
                  </a:lnTo>
                  <a:lnTo>
                    <a:pt x="0" y="58293"/>
                  </a:lnTo>
                  <a:close/>
                </a:path>
              </a:pathLst>
            </a:custGeom>
            <a:solidFill>
              <a:srgbClr val="999999"/>
            </a:solidFill>
            <a:ln w="25400" cap="sq">
              <a:solidFill>
                <a:srgbClr val="999999"/>
              </a:solidFill>
              <a:prstDash val="solid"/>
              <a:miter/>
            </a:ln>
          </p:spPr>
        </p:sp>
      </p:grpSp>
      <p:grpSp>
        <p:nvGrpSpPr>
          <p:cNvPr name="Group 57" id="57"/>
          <p:cNvGrpSpPr/>
          <p:nvPr/>
        </p:nvGrpSpPr>
        <p:grpSpPr>
          <a:xfrm rot="0">
            <a:off x="13575287" y="2931671"/>
            <a:ext cx="3865883" cy="4688843"/>
            <a:chOff x="0" y="0"/>
            <a:chExt cx="5154511" cy="6251791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5154549" cy="6251829"/>
            </a:xfrm>
            <a:custGeom>
              <a:avLst/>
              <a:gdLst/>
              <a:ahLst/>
              <a:cxnLst/>
              <a:rect r="r" b="b" t="t" l="l"/>
              <a:pathLst>
                <a:path h="6251829" w="5154549">
                  <a:moveTo>
                    <a:pt x="0" y="0"/>
                  </a:moveTo>
                  <a:lnTo>
                    <a:pt x="5154549" y="0"/>
                  </a:lnTo>
                  <a:lnTo>
                    <a:pt x="5154549" y="6251829"/>
                  </a:lnTo>
                  <a:lnTo>
                    <a:pt x="0" y="6251829"/>
                  </a:lnTo>
                  <a:close/>
                </a:path>
              </a:pathLst>
            </a:custGeom>
            <a:solidFill>
              <a:srgbClr val="DEDEDD"/>
            </a:solidFill>
            <a:ln w="25400" cap="sq">
              <a:solidFill>
                <a:srgbClr val="DEDEDD"/>
              </a:solidFill>
              <a:prstDash val="solid"/>
              <a:miter/>
            </a:ln>
          </p:spPr>
        </p:sp>
      </p:grpSp>
      <p:grpSp>
        <p:nvGrpSpPr>
          <p:cNvPr name="Group 59" id="59"/>
          <p:cNvGrpSpPr/>
          <p:nvPr/>
        </p:nvGrpSpPr>
        <p:grpSpPr>
          <a:xfrm rot="0">
            <a:off x="13526767" y="2883151"/>
            <a:ext cx="3853177" cy="4676137"/>
            <a:chOff x="0" y="0"/>
            <a:chExt cx="5137569" cy="6234849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5137531" cy="6234811"/>
            </a:xfrm>
            <a:custGeom>
              <a:avLst/>
              <a:gdLst/>
              <a:ahLst/>
              <a:cxnLst/>
              <a:rect r="r" b="b" t="t" l="l"/>
              <a:pathLst>
                <a:path h="6234811" w="5137531">
                  <a:moveTo>
                    <a:pt x="0" y="0"/>
                  </a:moveTo>
                  <a:lnTo>
                    <a:pt x="5137531" y="0"/>
                  </a:lnTo>
                  <a:lnTo>
                    <a:pt x="5137531" y="6234811"/>
                  </a:lnTo>
                  <a:lnTo>
                    <a:pt x="0" y="6234811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DDDDDD"/>
              </a:solidFill>
              <a:prstDash val="solid"/>
              <a:miter/>
            </a:ln>
          </p:spPr>
        </p:sp>
      </p:grpSp>
      <p:grpSp>
        <p:nvGrpSpPr>
          <p:cNvPr name="Group 61" id="61"/>
          <p:cNvGrpSpPr/>
          <p:nvPr/>
        </p:nvGrpSpPr>
        <p:grpSpPr>
          <a:xfrm rot="0">
            <a:off x="13533120" y="3145536"/>
            <a:ext cx="3840480" cy="1005840"/>
            <a:chOff x="0" y="0"/>
            <a:chExt cx="5120640" cy="134112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5120640" cy="1341120"/>
            </a:xfrm>
            <a:custGeom>
              <a:avLst/>
              <a:gdLst/>
              <a:ahLst/>
              <a:cxnLst/>
              <a:rect r="r" b="b" t="t" l="l"/>
              <a:pathLst>
                <a:path h="134112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397" r="0" b="-24397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9525"/>
              <a:ext cx="5120640" cy="13506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sz="6000" b="true">
                  <a:solidFill>
                    <a:srgbClr val="2D6A4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4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13752576" y="4279392"/>
            <a:ext cx="3401568" cy="950976"/>
            <a:chOff x="0" y="0"/>
            <a:chExt cx="4535424" cy="1267968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4535424" cy="1267968"/>
            </a:xfrm>
            <a:custGeom>
              <a:avLst/>
              <a:gdLst/>
              <a:ahLst/>
              <a:cxnLst/>
              <a:rect r="r" b="b" t="t" l="l"/>
              <a:pathLst>
                <a:path h="1267968" w="4535424">
                  <a:moveTo>
                    <a:pt x="0" y="0"/>
                  </a:moveTo>
                  <a:lnTo>
                    <a:pt x="4535424" y="0"/>
                  </a:lnTo>
                  <a:lnTo>
                    <a:pt x="4535424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696" r="0" b="-19696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9525"/>
              <a:ext cx="4535424" cy="12774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2B2B2B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StandardScaler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13886183" y="5290823"/>
            <a:ext cx="3134363" cy="43691"/>
            <a:chOff x="0" y="0"/>
            <a:chExt cx="4179151" cy="58255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4179189" cy="58293"/>
            </a:xfrm>
            <a:custGeom>
              <a:avLst/>
              <a:gdLst/>
              <a:ahLst/>
              <a:cxnLst/>
              <a:rect r="r" b="b" t="t" l="l"/>
              <a:pathLst>
                <a:path h="58293" w="4179189">
                  <a:moveTo>
                    <a:pt x="0" y="0"/>
                  </a:moveTo>
                  <a:lnTo>
                    <a:pt x="4179189" y="0"/>
                  </a:lnTo>
                  <a:lnTo>
                    <a:pt x="4179189" y="58293"/>
                  </a:lnTo>
                  <a:lnTo>
                    <a:pt x="0" y="58293"/>
                  </a:lnTo>
                  <a:close/>
                </a:path>
              </a:pathLst>
            </a:custGeom>
            <a:solidFill>
              <a:srgbClr val="DDDDDD"/>
            </a:solidFill>
            <a:ln w="25400" cap="sq">
              <a:solidFill>
                <a:srgbClr val="DDDDDD"/>
              </a:solidFill>
              <a:prstDash val="solid"/>
              <a:miter/>
            </a:ln>
          </p:spPr>
        </p:sp>
      </p:grpSp>
      <p:sp>
        <p:nvSpPr>
          <p:cNvPr name="TextBox 69" id="69"/>
          <p:cNvSpPr txBox="true"/>
          <p:nvPr/>
        </p:nvSpPr>
        <p:spPr>
          <a:xfrm rot="0">
            <a:off x="13716000" y="5511927"/>
            <a:ext cx="3474720" cy="1784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0"/>
              </a:lnSpc>
            </a:pPr>
            <a:r>
              <a:rPr lang="en-US" sz="2200">
                <a:solidFill>
                  <a:srgbClr val="555555"/>
                </a:solidFill>
                <a:latin typeface="Calibri (MS)"/>
                <a:ea typeface="Calibri (MS)"/>
                <a:cs typeface="Calibri (MS)"/>
                <a:sym typeface="Calibri (MS)"/>
              </a:rPr>
              <a:t>Centrage-réduction</a:t>
            </a:r>
          </a:p>
          <a:p>
            <a:pPr algn="ctr">
              <a:lnSpc>
                <a:spcPts val="2640"/>
              </a:lnSpc>
            </a:pPr>
            <a:r>
              <a:rPr lang="en-US" sz="2200">
                <a:solidFill>
                  <a:srgbClr val="555555"/>
                </a:solidFill>
                <a:latin typeface="Calibri (MS)"/>
                <a:ea typeface="Calibri (MS)"/>
                <a:cs typeface="Calibri (MS)"/>
                <a:sym typeface="Calibri (MS)"/>
              </a:rPr>
              <a:t>μ = 0,  σ = 1</a:t>
            </a:r>
          </a:p>
          <a:p>
            <a:pPr algn="ctr">
              <a:lnSpc>
                <a:spcPts val="2640"/>
              </a:lnSpc>
            </a:pPr>
            <a:r>
              <a:rPr lang="en-US" sz="2200">
                <a:solidFill>
                  <a:srgbClr val="555555"/>
                </a:solidFill>
                <a:latin typeface="Calibri (MS)"/>
                <a:ea typeface="Calibri (MS)"/>
                <a:cs typeface="Calibri (MS)"/>
                <a:sym typeface="Calibri (MS)"/>
              </a:rPr>
              <a:t>fit sur train</a:t>
            </a:r>
          </a:p>
        </p:txBody>
      </p:sp>
      <p:grpSp>
        <p:nvGrpSpPr>
          <p:cNvPr name="Group 70" id="70"/>
          <p:cNvGrpSpPr/>
          <p:nvPr/>
        </p:nvGrpSpPr>
        <p:grpSpPr>
          <a:xfrm rot="0">
            <a:off x="914400" y="7863840"/>
            <a:ext cx="16459200" cy="548640"/>
            <a:chOff x="0" y="0"/>
            <a:chExt cx="21945600" cy="73152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21945600" cy="731520"/>
            </a:xfrm>
            <a:custGeom>
              <a:avLst/>
              <a:gdLst/>
              <a:ahLst/>
              <a:cxnLst/>
              <a:rect r="r" b="b" t="t" l="l"/>
              <a:pathLst>
                <a:path h="7315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47625"/>
              <a:ext cx="219456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i="true">
                  <a:solidFill>
                    <a:srgbClr val="555555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⚠  SMOTE est appliqué uniquement sur le train set — le test set conserve la distribution réelle (7,7 % vs 92,3 %)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01703" y="609095"/>
            <a:ext cx="135131" cy="427739"/>
            <a:chOff x="0" y="0"/>
            <a:chExt cx="180175" cy="5703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0213" cy="570357"/>
            </a:xfrm>
            <a:custGeom>
              <a:avLst/>
              <a:gdLst/>
              <a:ahLst/>
              <a:cxnLst/>
              <a:rect r="r" b="b" t="t" l="l"/>
              <a:pathLst>
                <a:path h="570357" w="180213">
                  <a:moveTo>
                    <a:pt x="0" y="0"/>
                  </a:moveTo>
                  <a:lnTo>
                    <a:pt x="180213" y="0"/>
                  </a:lnTo>
                  <a:lnTo>
                    <a:pt x="180213" y="570357"/>
                  </a:lnTo>
                  <a:lnTo>
                    <a:pt x="0" y="570357"/>
                  </a:lnTo>
                  <a:close/>
                </a:path>
              </a:pathLst>
            </a:custGeom>
            <a:solidFill>
              <a:srgbClr val="2D6A4F"/>
            </a:solidFill>
            <a:ln w="25400" cap="sq">
              <a:solidFill>
                <a:srgbClr val="2D6A4F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243584" y="548640"/>
            <a:ext cx="16093440" cy="548640"/>
            <a:chOff x="0" y="0"/>
            <a:chExt cx="21457920" cy="7315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457920" cy="731520"/>
            </a:xfrm>
            <a:custGeom>
              <a:avLst/>
              <a:gdLst/>
              <a:ahLst/>
              <a:cxnLst/>
              <a:rect r="r" b="b" t="t" l="l"/>
              <a:pathLst>
                <a:path h="73152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1561" r="0" b="-521561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14579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359">
                  <a:solidFill>
                    <a:srgbClr val="2D6A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04 · MODÈLES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" y="1243584"/>
            <a:ext cx="16459200" cy="1097280"/>
            <a:chOff x="0" y="0"/>
            <a:chExt cx="21945600" cy="14630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2194560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sz="5599" b="true">
                  <a:solidFill>
                    <a:srgbClr val="2B2B2B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Trois approches complémentaires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01703" y="2584199"/>
            <a:ext cx="16484603" cy="43691"/>
            <a:chOff x="0" y="0"/>
            <a:chExt cx="21979471" cy="5825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979510" cy="58293"/>
            </a:xfrm>
            <a:custGeom>
              <a:avLst/>
              <a:gdLst/>
              <a:ahLst/>
              <a:cxnLst/>
              <a:rect r="r" b="b" t="t" l="l"/>
              <a:pathLst>
                <a:path h="58293" w="21979510">
                  <a:moveTo>
                    <a:pt x="0" y="0"/>
                  </a:moveTo>
                  <a:lnTo>
                    <a:pt x="21979510" y="0"/>
                  </a:lnTo>
                  <a:lnTo>
                    <a:pt x="21979510" y="58293"/>
                  </a:lnTo>
                  <a:lnTo>
                    <a:pt x="0" y="58293"/>
                  </a:lnTo>
                  <a:close/>
                </a:path>
              </a:pathLst>
            </a:custGeom>
            <a:solidFill>
              <a:srgbClr val="DDDDDD"/>
            </a:solidFill>
            <a:ln w="25400" cap="sq">
              <a:solidFill>
                <a:srgbClr val="DDDDDD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901703" y="2840231"/>
            <a:ext cx="5182619" cy="98555"/>
            <a:chOff x="0" y="0"/>
            <a:chExt cx="6910159" cy="13140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910197" cy="131445"/>
            </a:xfrm>
            <a:custGeom>
              <a:avLst/>
              <a:gdLst/>
              <a:ahLst/>
              <a:cxnLst/>
              <a:rect r="r" b="b" t="t" l="l"/>
              <a:pathLst>
                <a:path h="131445" w="6910197">
                  <a:moveTo>
                    <a:pt x="0" y="0"/>
                  </a:moveTo>
                  <a:lnTo>
                    <a:pt x="6910197" y="0"/>
                  </a:lnTo>
                  <a:lnTo>
                    <a:pt x="6910197" y="131445"/>
                  </a:lnTo>
                  <a:lnTo>
                    <a:pt x="0" y="131445"/>
                  </a:lnTo>
                  <a:close/>
                </a:path>
              </a:pathLst>
            </a:custGeom>
            <a:solidFill>
              <a:srgbClr val="2D6A4F"/>
            </a:solidFill>
            <a:ln w="25400" cap="sq">
              <a:solidFill>
                <a:srgbClr val="2D6A4F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914400" y="3108960"/>
            <a:ext cx="5157216" cy="1316736"/>
            <a:chOff x="0" y="0"/>
            <a:chExt cx="6876288" cy="175564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876288" cy="1755648"/>
            </a:xfrm>
            <a:custGeom>
              <a:avLst/>
              <a:gdLst/>
              <a:ahLst/>
              <a:cxnLst/>
              <a:rect r="r" b="b" t="t" l="l"/>
              <a:pathLst>
                <a:path h="1755648" w="6876288">
                  <a:moveTo>
                    <a:pt x="0" y="0"/>
                  </a:moveTo>
                  <a:lnTo>
                    <a:pt x="6876288" y="0"/>
                  </a:lnTo>
                  <a:lnTo>
                    <a:pt x="6876288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316" r="0" b="-26316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"/>
              <a:ext cx="6876288" cy="17651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79"/>
                </a:lnSpc>
              </a:pPr>
              <a:r>
                <a:rPr lang="en-US" sz="3400" b="true">
                  <a:solidFill>
                    <a:srgbClr val="2B2B2B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Régression</a:t>
              </a:r>
            </a:p>
            <a:p>
              <a:pPr algn="l">
                <a:lnSpc>
                  <a:spcPts val="4079"/>
                </a:lnSpc>
              </a:pPr>
              <a:r>
                <a:rPr lang="en-US" sz="3400" b="true">
                  <a:solidFill>
                    <a:srgbClr val="2B2B2B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Logistique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14400" y="4572000"/>
            <a:ext cx="5157216" cy="475488"/>
            <a:chOff x="0" y="0"/>
            <a:chExt cx="6876288" cy="63398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876288" cy="633984"/>
            </a:xfrm>
            <a:custGeom>
              <a:avLst/>
              <a:gdLst/>
              <a:ahLst/>
              <a:cxnLst/>
              <a:rect r="r" b="b" t="t" l="l"/>
              <a:pathLst>
                <a:path h="633984" w="6876288">
                  <a:moveTo>
                    <a:pt x="0" y="0"/>
                  </a:moveTo>
                  <a:lnTo>
                    <a:pt x="6876288" y="0"/>
                  </a:lnTo>
                  <a:lnTo>
                    <a:pt x="6876288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337" r="0" b="-161337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6876288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2D6A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Modèle de référence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01703" y="5107943"/>
            <a:ext cx="5182619" cy="43691"/>
            <a:chOff x="0" y="0"/>
            <a:chExt cx="6910159" cy="5825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910197" cy="58293"/>
            </a:xfrm>
            <a:custGeom>
              <a:avLst/>
              <a:gdLst/>
              <a:ahLst/>
              <a:cxnLst/>
              <a:rect r="r" b="b" t="t" l="l"/>
              <a:pathLst>
                <a:path h="58293" w="6910197">
                  <a:moveTo>
                    <a:pt x="0" y="0"/>
                  </a:moveTo>
                  <a:lnTo>
                    <a:pt x="6910197" y="0"/>
                  </a:lnTo>
                  <a:lnTo>
                    <a:pt x="6910197" y="58293"/>
                  </a:lnTo>
                  <a:lnTo>
                    <a:pt x="0" y="58293"/>
                  </a:lnTo>
                  <a:close/>
                </a:path>
              </a:pathLst>
            </a:custGeom>
            <a:solidFill>
              <a:srgbClr val="DDDDDD"/>
            </a:solidFill>
            <a:ln w="25400" cap="sq">
              <a:solidFill>
                <a:srgbClr val="DDDDDD"/>
              </a:solidFill>
              <a:prstDash val="solid"/>
              <a:miter/>
            </a:ln>
          </p:spPr>
        </p:sp>
      </p:grpSp>
      <p:sp>
        <p:nvSpPr>
          <p:cNvPr name="TextBox 22" id="22"/>
          <p:cNvSpPr txBox="true"/>
          <p:nvPr/>
        </p:nvSpPr>
        <p:spPr>
          <a:xfrm rot="0">
            <a:off x="914400" y="5292471"/>
            <a:ext cx="5157216" cy="4253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555555"/>
                </a:solidFill>
                <a:latin typeface="Calibri (MS)"/>
                <a:ea typeface="Calibri (MS)"/>
                <a:cs typeface="Calibri (MS)"/>
                <a:sym typeface="Calibri (MS)"/>
              </a:rPr>
              <a:t>Modèle linéaire interprétable.</a:t>
            </a:r>
          </a:p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555555"/>
                </a:solidFill>
                <a:latin typeface="Calibri (MS)"/>
                <a:ea typeface="Calibri (MS)"/>
                <a:cs typeface="Calibri (MS)"/>
                <a:sym typeface="Calibri (MS)"/>
              </a:rPr>
              <a:t>Modélise P(y=1|x) via la</a:t>
            </a:r>
          </a:p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555555"/>
                </a:solidFill>
                <a:latin typeface="Calibri (MS)"/>
                <a:ea typeface="Calibri (MS)"/>
                <a:cs typeface="Calibri (MS)"/>
                <a:sym typeface="Calibri (MS)"/>
              </a:rPr>
              <a:t>fonction sigmoïde.</a:t>
            </a:r>
          </a:p>
          <a:p>
            <a:pPr algn="l">
              <a:lnSpc>
                <a:spcPts val="2640"/>
              </a:lnSpc>
            </a:pPr>
          </a:p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555555"/>
                </a:solidFill>
                <a:latin typeface="Calibri (MS)"/>
                <a:ea typeface="Calibri (MS)"/>
                <a:cs typeface="Calibri (MS)"/>
                <a:sym typeface="Calibri (MS)"/>
              </a:rPr>
              <a:t>Paramètres :</a:t>
            </a:r>
          </a:p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555555"/>
                </a:solidFill>
                <a:latin typeface="Calibri (MS)"/>
                <a:ea typeface="Calibri (MS)"/>
                <a:cs typeface="Calibri (MS)"/>
                <a:sym typeface="Calibri (MS)"/>
              </a:rPr>
              <a:t>class_weight = balanced</a:t>
            </a:r>
          </a:p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555555"/>
                </a:solidFill>
                <a:latin typeface="Calibri (MS)"/>
                <a:ea typeface="Calibri (MS)"/>
                <a:cs typeface="Calibri (MS)"/>
                <a:sym typeface="Calibri (MS)"/>
              </a:rPr>
              <a:t>max_iter = 1 000</a:t>
            </a:r>
          </a:p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555555"/>
                </a:solidFill>
                <a:latin typeface="Calibri (MS)"/>
                <a:ea typeface="Calibri (MS)"/>
                <a:cs typeface="Calibri (MS)"/>
                <a:sym typeface="Calibri (MS)"/>
              </a:rPr>
              <a:t>solver = lbfgs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6278375" y="2840231"/>
            <a:ext cx="43691" cy="6828539"/>
            <a:chOff x="0" y="0"/>
            <a:chExt cx="58255" cy="910471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8293" cy="9104757"/>
            </a:xfrm>
            <a:custGeom>
              <a:avLst/>
              <a:gdLst/>
              <a:ahLst/>
              <a:cxnLst/>
              <a:rect r="r" b="b" t="t" l="l"/>
              <a:pathLst>
                <a:path h="9104757" w="58293">
                  <a:moveTo>
                    <a:pt x="0" y="0"/>
                  </a:moveTo>
                  <a:lnTo>
                    <a:pt x="58293" y="0"/>
                  </a:lnTo>
                  <a:lnTo>
                    <a:pt x="58293" y="9104757"/>
                  </a:lnTo>
                  <a:lnTo>
                    <a:pt x="0" y="9104757"/>
                  </a:lnTo>
                  <a:close/>
                </a:path>
              </a:pathLst>
            </a:custGeom>
            <a:solidFill>
              <a:srgbClr val="DDDDDD"/>
            </a:solidFill>
            <a:ln w="25400" cap="sq">
              <a:solidFill>
                <a:srgbClr val="DDDDDD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6552695" y="2840231"/>
            <a:ext cx="5182619" cy="98555"/>
            <a:chOff x="0" y="0"/>
            <a:chExt cx="6910159" cy="131407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910197" cy="131445"/>
            </a:xfrm>
            <a:custGeom>
              <a:avLst/>
              <a:gdLst/>
              <a:ahLst/>
              <a:cxnLst/>
              <a:rect r="r" b="b" t="t" l="l"/>
              <a:pathLst>
                <a:path h="131445" w="6910197">
                  <a:moveTo>
                    <a:pt x="0" y="0"/>
                  </a:moveTo>
                  <a:lnTo>
                    <a:pt x="6910197" y="0"/>
                  </a:lnTo>
                  <a:lnTo>
                    <a:pt x="6910197" y="131445"/>
                  </a:lnTo>
                  <a:lnTo>
                    <a:pt x="0" y="131445"/>
                  </a:lnTo>
                  <a:close/>
                </a:path>
              </a:pathLst>
            </a:custGeom>
            <a:solidFill>
              <a:srgbClr val="2D6A4F"/>
            </a:solidFill>
            <a:ln w="25400" cap="sq">
              <a:solidFill>
                <a:srgbClr val="2D6A4F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6565392" y="3108960"/>
            <a:ext cx="5157216" cy="1316736"/>
            <a:chOff x="0" y="0"/>
            <a:chExt cx="6876288" cy="175564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876288" cy="1755648"/>
            </a:xfrm>
            <a:custGeom>
              <a:avLst/>
              <a:gdLst/>
              <a:ahLst/>
              <a:cxnLst/>
              <a:rect r="r" b="b" t="t" l="l"/>
              <a:pathLst>
                <a:path h="1755648" w="6876288">
                  <a:moveTo>
                    <a:pt x="0" y="0"/>
                  </a:moveTo>
                  <a:lnTo>
                    <a:pt x="6876288" y="0"/>
                  </a:lnTo>
                  <a:lnTo>
                    <a:pt x="6876288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316" r="0" b="-26316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9525"/>
              <a:ext cx="6876288" cy="17651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79"/>
                </a:lnSpc>
              </a:pPr>
              <a:r>
                <a:rPr lang="en-US" sz="3400" b="true">
                  <a:solidFill>
                    <a:srgbClr val="2B2B2B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Random</a:t>
              </a:r>
            </a:p>
            <a:p>
              <a:pPr algn="l">
                <a:lnSpc>
                  <a:spcPts val="4079"/>
                </a:lnSpc>
              </a:pPr>
              <a:r>
                <a:rPr lang="en-US" sz="3400" b="true">
                  <a:solidFill>
                    <a:srgbClr val="2B2B2B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Forest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6565392" y="4572000"/>
            <a:ext cx="5157216" cy="475488"/>
            <a:chOff x="0" y="0"/>
            <a:chExt cx="6876288" cy="633984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876288" cy="633984"/>
            </a:xfrm>
            <a:custGeom>
              <a:avLst/>
              <a:gdLst/>
              <a:ahLst/>
              <a:cxnLst/>
              <a:rect r="r" b="b" t="t" l="l"/>
              <a:pathLst>
                <a:path h="633984" w="6876288">
                  <a:moveTo>
                    <a:pt x="0" y="0"/>
                  </a:moveTo>
                  <a:lnTo>
                    <a:pt x="6876288" y="0"/>
                  </a:lnTo>
                  <a:lnTo>
                    <a:pt x="6876288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337" r="0" b="-161337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6876288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2D6A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Apprentissage d'ensemble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6552695" y="5107943"/>
            <a:ext cx="5182619" cy="43691"/>
            <a:chOff x="0" y="0"/>
            <a:chExt cx="6910159" cy="58255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6910197" cy="58293"/>
            </a:xfrm>
            <a:custGeom>
              <a:avLst/>
              <a:gdLst/>
              <a:ahLst/>
              <a:cxnLst/>
              <a:rect r="r" b="b" t="t" l="l"/>
              <a:pathLst>
                <a:path h="58293" w="6910197">
                  <a:moveTo>
                    <a:pt x="0" y="0"/>
                  </a:moveTo>
                  <a:lnTo>
                    <a:pt x="6910197" y="0"/>
                  </a:lnTo>
                  <a:lnTo>
                    <a:pt x="6910197" y="58293"/>
                  </a:lnTo>
                  <a:lnTo>
                    <a:pt x="0" y="58293"/>
                  </a:lnTo>
                  <a:close/>
                </a:path>
              </a:pathLst>
            </a:custGeom>
            <a:solidFill>
              <a:srgbClr val="DDDDDD"/>
            </a:solidFill>
            <a:ln w="25400" cap="sq">
              <a:solidFill>
                <a:srgbClr val="DDDDDD"/>
              </a:solidFill>
              <a:prstDash val="solid"/>
              <a:miter/>
            </a:ln>
          </p:spPr>
        </p:sp>
      </p:grpSp>
      <p:sp>
        <p:nvSpPr>
          <p:cNvPr name="TextBox 35" id="35"/>
          <p:cNvSpPr txBox="true"/>
          <p:nvPr/>
        </p:nvSpPr>
        <p:spPr>
          <a:xfrm rot="0">
            <a:off x="6565392" y="5292471"/>
            <a:ext cx="5157216" cy="4253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555555"/>
                </a:solidFill>
                <a:latin typeface="Calibri (MS)"/>
                <a:ea typeface="Calibri (MS)"/>
                <a:cs typeface="Calibri (MS)"/>
                <a:sym typeface="Calibri (MS)"/>
              </a:rPr>
              <a:t>100 arbres de décision</a:t>
            </a:r>
          </a:p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555555"/>
                </a:solidFill>
                <a:latin typeface="Calibri (MS)"/>
                <a:ea typeface="Calibri (MS)"/>
                <a:cs typeface="Calibri (MS)"/>
                <a:sym typeface="Calibri (MS)"/>
              </a:rPr>
              <a:t>entraînés sur des sous-</a:t>
            </a:r>
          </a:p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555555"/>
                </a:solidFill>
                <a:latin typeface="Calibri (MS)"/>
                <a:ea typeface="Calibri (MS)"/>
                <a:cs typeface="Calibri (MS)"/>
                <a:sym typeface="Calibri (MS)"/>
              </a:rPr>
              <a:t>échantillons (bagging).</a:t>
            </a:r>
          </a:p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555555"/>
                </a:solidFill>
                <a:latin typeface="Calibri (MS)"/>
                <a:ea typeface="Calibri (MS)"/>
                <a:cs typeface="Calibri (MS)"/>
                <a:sym typeface="Calibri (MS)"/>
              </a:rPr>
              <a:t>Votes majoritaires.</a:t>
            </a:r>
          </a:p>
          <a:p>
            <a:pPr algn="l">
              <a:lnSpc>
                <a:spcPts val="2640"/>
              </a:lnSpc>
            </a:pPr>
          </a:p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555555"/>
                </a:solidFill>
                <a:latin typeface="Calibri (MS)"/>
                <a:ea typeface="Calibri (MS)"/>
                <a:cs typeface="Calibri (MS)"/>
                <a:sym typeface="Calibri (MS)"/>
              </a:rPr>
              <a:t>Paramètres :</a:t>
            </a:r>
          </a:p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555555"/>
                </a:solidFill>
                <a:latin typeface="Calibri (MS)"/>
                <a:ea typeface="Calibri (MS)"/>
                <a:cs typeface="Calibri (MS)"/>
                <a:sym typeface="Calibri (MS)"/>
              </a:rPr>
              <a:t>100 estimateurs</a:t>
            </a:r>
          </a:p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555555"/>
                </a:solidFill>
                <a:latin typeface="Calibri (MS)"/>
                <a:ea typeface="Calibri (MS)"/>
                <a:cs typeface="Calibri (MS)"/>
                <a:sym typeface="Calibri (MS)"/>
              </a:rPr>
              <a:t>max_depth = 10</a:t>
            </a:r>
          </a:p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555555"/>
                </a:solidFill>
                <a:latin typeface="Calibri (MS)"/>
                <a:ea typeface="Calibri (MS)"/>
                <a:cs typeface="Calibri (MS)"/>
                <a:sym typeface="Calibri (MS)"/>
              </a:rPr>
              <a:t>class_weight = balanced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11929367" y="2840231"/>
            <a:ext cx="43691" cy="6828539"/>
            <a:chOff x="0" y="0"/>
            <a:chExt cx="58255" cy="9104719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58293" cy="9104757"/>
            </a:xfrm>
            <a:custGeom>
              <a:avLst/>
              <a:gdLst/>
              <a:ahLst/>
              <a:cxnLst/>
              <a:rect r="r" b="b" t="t" l="l"/>
              <a:pathLst>
                <a:path h="9104757" w="58293">
                  <a:moveTo>
                    <a:pt x="0" y="0"/>
                  </a:moveTo>
                  <a:lnTo>
                    <a:pt x="58293" y="0"/>
                  </a:lnTo>
                  <a:lnTo>
                    <a:pt x="58293" y="9104757"/>
                  </a:lnTo>
                  <a:lnTo>
                    <a:pt x="0" y="9104757"/>
                  </a:lnTo>
                  <a:close/>
                </a:path>
              </a:pathLst>
            </a:custGeom>
            <a:solidFill>
              <a:srgbClr val="DDDDDD"/>
            </a:solidFill>
            <a:ln w="25400" cap="sq">
              <a:solidFill>
                <a:srgbClr val="DDDDDD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12203687" y="2840231"/>
            <a:ext cx="5182619" cy="98555"/>
            <a:chOff x="0" y="0"/>
            <a:chExt cx="6910159" cy="131407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6910197" cy="131445"/>
            </a:xfrm>
            <a:custGeom>
              <a:avLst/>
              <a:gdLst/>
              <a:ahLst/>
              <a:cxnLst/>
              <a:rect r="r" b="b" t="t" l="l"/>
              <a:pathLst>
                <a:path h="131445" w="6910197">
                  <a:moveTo>
                    <a:pt x="0" y="0"/>
                  </a:moveTo>
                  <a:lnTo>
                    <a:pt x="6910197" y="0"/>
                  </a:lnTo>
                  <a:lnTo>
                    <a:pt x="6910197" y="131445"/>
                  </a:lnTo>
                  <a:lnTo>
                    <a:pt x="0" y="131445"/>
                  </a:lnTo>
                  <a:close/>
                </a:path>
              </a:pathLst>
            </a:custGeom>
            <a:solidFill>
              <a:srgbClr val="2D6A4F"/>
            </a:solidFill>
            <a:ln w="25400" cap="sq">
              <a:solidFill>
                <a:srgbClr val="2D6A4F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12216384" y="3108960"/>
            <a:ext cx="5157216" cy="1316736"/>
            <a:chOff x="0" y="0"/>
            <a:chExt cx="6876288" cy="1755648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6876288" cy="1755648"/>
            </a:xfrm>
            <a:custGeom>
              <a:avLst/>
              <a:gdLst/>
              <a:ahLst/>
              <a:cxnLst/>
              <a:rect r="r" b="b" t="t" l="l"/>
              <a:pathLst>
                <a:path h="1755648" w="6876288">
                  <a:moveTo>
                    <a:pt x="0" y="0"/>
                  </a:moveTo>
                  <a:lnTo>
                    <a:pt x="6876288" y="0"/>
                  </a:lnTo>
                  <a:lnTo>
                    <a:pt x="6876288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316" r="0" b="-26316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9525"/>
              <a:ext cx="6876288" cy="17651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79"/>
                </a:lnSpc>
              </a:pPr>
              <a:r>
                <a:rPr lang="en-US" sz="3400" b="true">
                  <a:solidFill>
                    <a:srgbClr val="2B2B2B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CNN 1D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2216384" y="4572000"/>
            <a:ext cx="5157216" cy="475488"/>
            <a:chOff x="0" y="0"/>
            <a:chExt cx="6876288" cy="633984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6876288" cy="633984"/>
            </a:xfrm>
            <a:custGeom>
              <a:avLst/>
              <a:gdLst/>
              <a:ahLst/>
              <a:cxnLst/>
              <a:rect r="r" b="b" t="t" l="l"/>
              <a:pathLst>
                <a:path h="633984" w="6876288">
                  <a:moveTo>
                    <a:pt x="0" y="0"/>
                  </a:moveTo>
                  <a:lnTo>
                    <a:pt x="6876288" y="0"/>
                  </a:lnTo>
                  <a:lnTo>
                    <a:pt x="6876288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337" r="0" b="-161337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6876288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2D6A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Deep Learning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2203687" y="5107943"/>
            <a:ext cx="5182619" cy="43691"/>
            <a:chOff x="0" y="0"/>
            <a:chExt cx="6910159" cy="58255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6910197" cy="58293"/>
            </a:xfrm>
            <a:custGeom>
              <a:avLst/>
              <a:gdLst/>
              <a:ahLst/>
              <a:cxnLst/>
              <a:rect r="r" b="b" t="t" l="l"/>
              <a:pathLst>
                <a:path h="58293" w="6910197">
                  <a:moveTo>
                    <a:pt x="0" y="0"/>
                  </a:moveTo>
                  <a:lnTo>
                    <a:pt x="6910197" y="0"/>
                  </a:lnTo>
                  <a:lnTo>
                    <a:pt x="6910197" y="58293"/>
                  </a:lnTo>
                  <a:lnTo>
                    <a:pt x="0" y="58293"/>
                  </a:lnTo>
                  <a:close/>
                </a:path>
              </a:pathLst>
            </a:custGeom>
            <a:solidFill>
              <a:srgbClr val="DDDDDD"/>
            </a:solidFill>
            <a:ln w="25400" cap="sq">
              <a:solidFill>
                <a:srgbClr val="DDDDDD"/>
              </a:solidFill>
              <a:prstDash val="solid"/>
              <a:miter/>
            </a:ln>
          </p:spPr>
        </p:sp>
      </p:grpSp>
      <p:sp>
        <p:nvSpPr>
          <p:cNvPr name="TextBox 48" id="48"/>
          <p:cNvSpPr txBox="true"/>
          <p:nvPr/>
        </p:nvSpPr>
        <p:spPr>
          <a:xfrm rot="0">
            <a:off x="12216384" y="5292471"/>
            <a:ext cx="5157216" cy="4253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555555"/>
                </a:solidFill>
                <a:latin typeface="Calibri (MS)"/>
                <a:ea typeface="Calibri (MS)"/>
                <a:cs typeface="Calibri (MS)"/>
                <a:sym typeface="Calibri (MS)"/>
              </a:rPr>
              <a:t>Convolutions 1D sur les</a:t>
            </a:r>
          </a:p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555555"/>
                </a:solidFill>
                <a:latin typeface="Calibri (MS)"/>
                <a:ea typeface="Calibri (MS)"/>
                <a:cs typeface="Calibri (MS)"/>
                <a:sym typeface="Calibri (MS)"/>
              </a:rPr>
              <a:t>features réinterprétées</a:t>
            </a:r>
          </a:p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555555"/>
                </a:solidFill>
                <a:latin typeface="Calibri (MS)"/>
                <a:ea typeface="Calibri (MS)"/>
                <a:cs typeface="Calibri (MS)"/>
                <a:sym typeface="Calibri (MS)"/>
              </a:rPr>
              <a:t>comme séquence.</a:t>
            </a:r>
          </a:p>
          <a:p>
            <a:pPr algn="l">
              <a:lnSpc>
                <a:spcPts val="2640"/>
              </a:lnSpc>
            </a:pPr>
          </a:p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555555"/>
                </a:solidFill>
                <a:latin typeface="Calibri (MS)"/>
                <a:ea typeface="Calibri (MS)"/>
                <a:cs typeface="Calibri (MS)"/>
                <a:sym typeface="Calibri (MS)"/>
              </a:rPr>
              <a:t>Architecture :</a:t>
            </a:r>
          </a:p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555555"/>
                </a:solidFill>
                <a:latin typeface="Calibri (MS)"/>
                <a:ea typeface="Calibri (MS)"/>
                <a:cs typeface="Calibri (MS)"/>
                <a:sym typeface="Calibri (MS)"/>
              </a:rPr>
              <a:t>Conv1D(64) → Conv1D(32)</a:t>
            </a:r>
          </a:p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555555"/>
                </a:solidFill>
                <a:latin typeface="Calibri (MS)"/>
                <a:ea typeface="Calibri (MS)"/>
                <a:cs typeface="Calibri (MS)"/>
                <a:sym typeface="Calibri (MS)"/>
              </a:rPr>
              <a:t>GlobalAvgPool → Dense(64)</a:t>
            </a:r>
          </a:p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555555"/>
                </a:solidFill>
                <a:latin typeface="Calibri (MS)"/>
                <a:ea typeface="Calibri (MS)"/>
                <a:cs typeface="Calibri (MS)"/>
                <a:sym typeface="Calibri (MS)"/>
              </a:rPr>
              <a:t>Dropout(0.3) → Sigmoid</a:t>
            </a:r>
          </a:p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555555"/>
                </a:solidFill>
                <a:latin typeface="Calibri (MS)"/>
                <a:ea typeface="Calibri (MS)"/>
                <a:cs typeface="Calibri (MS)"/>
                <a:sym typeface="Calibri (MS)"/>
              </a:rPr>
              <a:t>30 epochs · batch 64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01703" y="609095"/>
            <a:ext cx="135131" cy="427739"/>
            <a:chOff x="0" y="0"/>
            <a:chExt cx="180175" cy="5703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0213" cy="570357"/>
            </a:xfrm>
            <a:custGeom>
              <a:avLst/>
              <a:gdLst/>
              <a:ahLst/>
              <a:cxnLst/>
              <a:rect r="r" b="b" t="t" l="l"/>
              <a:pathLst>
                <a:path h="570357" w="180213">
                  <a:moveTo>
                    <a:pt x="0" y="0"/>
                  </a:moveTo>
                  <a:lnTo>
                    <a:pt x="180213" y="0"/>
                  </a:lnTo>
                  <a:lnTo>
                    <a:pt x="180213" y="570357"/>
                  </a:lnTo>
                  <a:lnTo>
                    <a:pt x="0" y="570357"/>
                  </a:lnTo>
                  <a:close/>
                </a:path>
              </a:pathLst>
            </a:custGeom>
            <a:solidFill>
              <a:srgbClr val="2D6A4F"/>
            </a:solidFill>
            <a:ln w="25400" cap="sq">
              <a:solidFill>
                <a:srgbClr val="2D6A4F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243584" y="548640"/>
            <a:ext cx="16093440" cy="548640"/>
            <a:chOff x="0" y="0"/>
            <a:chExt cx="21457920" cy="7315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457920" cy="731520"/>
            </a:xfrm>
            <a:custGeom>
              <a:avLst/>
              <a:gdLst/>
              <a:ahLst/>
              <a:cxnLst/>
              <a:rect r="r" b="b" t="t" l="l"/>
              <a:pathLst>
                <a:path h="73152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1561" r="0" b="-521561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14579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359">
                  <a:solidFill>
                    <a:srgbClr val="2D6A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05 · ÉVALUATION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" y="1243584"/>
            <a:ext cx="16459200" cy="1097280"/>
            <a:chOff x="0" y="0"/>
            <a:chExt cx="21945600" cy="14630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2194560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sz="5599" b="true">
                  <a:solidFill>
                    <a:srgbClr val="2B2B2B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Qui détecte vraiment les clients intéressés ?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01703" y="2584199"/>
            <a:ext cx="16484603" cy="43691"/>
            <a:chOff x="0" y="0"/>
            <a:chExt cx="21979471" cy="5825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979510" cy="58293"/>
            </a:xfrm>
            <a:custGeom>
              <a:avLst/>
              <a:gdLst/>
              <a:ahLst/>
              <a:cxnLst/>
              <a:rect r="r" b="b" t="t" l="l"/>
              <a:pathLst>
                <a:path h="58293" w="21979510">
                  <a:moveTo>
                    <a:pt x="0" y="0"/>
                  </a:moveTo>
                  <a:lnTo>
                    <a:pt x="21979510" y="0"/>
                  </a:lnTo>
                  <a:lnTo>
                    <a:pt x="21979510" y="58293"/>
                  </a:lnTo>
                  <a:lnTo>
                    <a:pt x="0" y="58293"/>
                  </a:lnTo>
                  <a:close/>
                </a:path>
              </a:pathLst>
            </a:custGeom>
            <a:solidFill>
              <a:srgbClr val="DDDDDD"/>
            </a:solidFill>
            <a:ln w="25400" cap="sq">
              <a:solidFill>
                <a:srgbClr val="DDDDDD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914400" y="9546336"/>
            <a:ext cx="16459200" cy="365760"/>
            <a:chOff x="0" y="0"/>
            <a:chExt cx="21945600" cy="48768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945600" cy="487680"/>
            </a:xfrm>
            <a:custGeom>
              <a:avLst/>
              <a:gdLst/>
              <a:ahLst/>
              <a:cxnLst/>
              <a:rect r="r" b="b" t="t" l="l"/>
              <a:pathLst>
                <a:path h="4876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26826" r="0" b="-826826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194560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i="true">
                  <a:solidFill>
                    <a:srgbClr val="999999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La Régression Logistique détecte 32 vrais positifs (Recall 41,6 %) — bien plus que la Random Forest (13) ou le CNN (7).</a:t>
              </a: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2289811" y="3354005"/>
            <a:ext cx="13708378" cy="5466216"/>
          </a:xfrm>
          <a:custGeom>
            <a:avLst/>
            <a:gdLst/>
            <a:ahLst/>
            <a:cxnLst/>
            <a:rect r="r" b="b" t="t" l="l"/>
            <a:pathLst>
              <a:path h="5466216" w="13708378">
                <a:moveTo>
                  <a:pt x="0" y="0"/>
                </a:moveTo>
                <a:lnTo>
                  <a:pt x="13708378" y="0"/>
                </a:lnTo>
                <a:lnTo>
                  <a:pt x="13708378" y="5466216"/>
                </a:lnTo>
                <a:lnTo>
                  <a:pt x="0" y="546621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01703" y="609095"/>
            <a:ext cx="135131" cy="427739"/>
            <a:chOff x="0" y="0"/>
            <a:chExt cx="180175" cy="5703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0213" cy="570357"/>
            </a:xfrm>
            <a:custGeom>
              <a:avLst/>
              <a:gdLst/>
              <a:ahLst/>
              <a:cxnLst/>
              <a:rect r="r" b="b" t="t" l="l"/>
              <a:pathLst>
                <a:path h="570357" w="180213">
                  <a:moveTo>
                    <a:pt x="0" y="0"/>
                  </a:moveTo>
                  <a:lnTo>
                    <a:pt x="180213" y="0"/>
                  </a:lnTo>
                  <a:lnTo>
                    <a:pt x="180213" y="570357"/>
                  </a:lnTo>
                  <a:lnTo>
                    <a:pt x="0" y="570357"/>
                  </a:lnTo>
                  <a:close/>
                </a:path>
              </a:pathLst>
            </a:custGeom>
            <a:solidFill>
              <a:srgbClr val="2D6A4F"/>
            </a:solidFill>
            <a:ln w="25400" cap="sq">
              <a:solidFill>
                <a:srgbClr val="2D6A4F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243584" y="548640"/>
            <a:ext cx="16093440" cy="548640"/>
            <a:chOff x="0" y="0"/>
            <a:chExt cx="21457920" cy="7315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457920" cy="731520"/>
            </a:xfrm>
            <a:custGeom>
              <a:avLst/>
              <a:gdLst/>
              <a:ahLst/>
              <a:cxnLst/>
              <a:rect r="r" b="b" t="t" l="l"/>
              <a:pathLst>
                <a:path h="73152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1561" r="0" b="-521561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14579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359">
                  <a:solidFill>
                    <a:srgbClr val="2D6A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05 · ÉVALUATION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" y="1243584"/>
            <a:ext cx="16459200" cy="1097280"/>
            <a:chOff x="0" y="0"/>
            <a:chExt cx="21945600" cy="14630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2194560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sz="5599" b="true">
                  <a:solidFill>
                    <a:srgbClr val="2B2B2B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Pouvoir discriminant global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01703" y="2584199"/>
            <a:ext cx="16484603" cy="43691"/>
            <a:chOff x="0" y="0"/>
            <a:chExt cx="21979471" cy="5825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979510" cy="58293"/>
            </a:xfrm>
            <a:custGeom>
              <a:avLst/>
              <a:gdLst/>
              <a:ahLst/>
              <a:cxnLst/>
              <a:rect r="r" b="b" t="t" l="l"/>
              <a:pathLst>
                <a:path h="58293" w="21979510">
                  <a:moveTo>
                    <a:pt x="0" y="0"/>
                  </a:moveTo>
                  <a:lnTo>
                    <a:pt x="21979510" y="0"/>
                  </a:lnTo>
                  <a:lnTo>
                    <a:pt x="21979510" y="58293"/>
                  </a:lnTo>
                  <a:lnTo>
                    <a:pt x="0" y="58293"/>
                  </a:lnTo>
                  <a:close/>
                </a:path>
              </a:pathLst>
            </a:custGeom>
            <a:solidFill>
              <a:srgbClr val="DDDDDD"/>
            </a:solidFill>
            <a:ln w="25400" cap="sq">
              <a:solidFill>
                <a:srgbClr val="DDDDDD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914400" y="2852928"/>
            <a:ext cx="10607040" cy="6803136"/>
            <a:chOff x="0" y="0"/>
            <a:chExt cx="14142720" cy="9070848"/>
          </a:xfrm>
        </p:grpSpPr>
        <p:sp>
          <p:nvSpPr>
            <p:cNvPr name="Freeform 13" id="13" descr="preencoded.png"/>
            <p:cNvSpPr/>
            <p:nvPr/>
          </p:nvSpPr>
          <p:spPr>
            <a:xfrm flipH="false" flipV="false" rot="0">
              <a:off x="0" y="0"/>
              <a:ext cx="14142720" cy="9070848"/>
            </a:xfrm>
            <a:custGeom>
              <a:avLst/>
              <a:gdLst/>
              <a:ahLst/>
              <a:cxnLst/>
              <a:rect r="r" b="b" t="t" l="l"/>
              <a:pathLst>
                <a:path h="9070848" w="14142720">
                  <a:moveTo>
                    <a:pt x="0" y="0"/>
                  </a:moveTo>
                  <a:lnTo>
                    <a:pt x="14142720" y="0"/>
                  </a:lnTo>
                  <a:lnTo>
                    <a:pt x="14142720" y="9070848"/>
                  </a:lnTo>
                  <a:lnTo>
                    <a:pt x="0" y="90708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-1566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1978640" y="2926080"/>
            <a:ext cx="5669280" cy="512064"/>
            <a:chOff x="0" y="0"/>
            <a:chExt cx="7559040" cy="68275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559040" cy="682752"/>
            </a:xfrm>
            <a:custGeom>
              <a:avLst/>
              <a:gdLst/>
              <a:ahLst/>
              <a:cxnLst/>
              <a:rect r="r" b="b" t="t" l="l"/>
              <a:pathLst>
                <a:path h="682752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5727" r="0" b="-165727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"/>
              <a:ext cx="7559040" cy="6922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2B2B2B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Random Forest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1978640" y="3474720"/>
            <a:ext cx="5669280" cy="621792"/>
            <a:chOff x="0" y="0"/>
            <a:chExt cx="7559040" cy="82905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559040" cy="829056"/>
            </a:xfrm>
            <a:custGeom>
              <a:avLst/>
              <a:gdLst/>
              <a:ahLst/>
              <a:cxnLst/>
              <a:rect r="r" b="b" t="t" l="l"/>
              <a:pathLst>
                <a:path h="829056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7657" r="0" b="-127657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19050"/>
              <a:ext cx="7559040" cy="8481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2D6A4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AUC = 0,640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1978640" y="4122039"/>
            <a:ext cx="5669280" cy="888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555555"/>
                </a:solidFill>
                <a:latin typeface="Calibri (MS)"/>
                <a:ea typeface="Calibri (MS)"/>
                <a:cs typeface="Calibri (MS)"/>
                <a:sym typeface="Calibri (MS)"/>
              </a:rPr>
              <a:t>Meilleure courbe — la plus</a:t>
            </a:r>
          </a:p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555555"/>
                </a:solidFill>
                <a:latin typeface="Calibri (MS)"/>
                <a:ea typeface="Calibri (MS)"/>
                <a:cs typeface="Calibri (MS)"/>
                <a:sym typeface="Calibri (MS)"/>
              </a:rPr>
              <a:t>éloignée de la diagonale.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1978640" y="5193792"/>
            <a:ext cx="5669280" cy="512064"/>
            <a:chOff x="0" y="0"/>
            <a:chExt cx="7559040" cy="68275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559040" cy="682752"/>
            </a:xfrm>
            <a:custGeom>
              <a:avLst/>
              <a:gdLst/>
              <a:ahLst/>
              <a:cxnLst/>
              <a:rect r="r" b="b" t="t" l="l"/>
              <a:pathLst>
                <a:path h="682752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5727" r="0" b="-165727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9525"/>
              <a:ext cx="7559040" cy="6922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2B2B2B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Régression Log.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1978640" y="5742432"/>
            <a:ext cx="5669280" cy="621792"/>
            <a:chOff x="0" y="0"/>
            <a:chExt cx="7559040" cy="82905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559040" cy="829056"/>
            </a:xfrm>
            <a:custGeom>
              <a:avLst/>
              <a:gdLst/>
              <a:ahLst/>
              <a:cxnLst/>
              <a:rect r="r" b="b" t="t" l="l"/>
              <a:pathLst>
                <a:path h="829056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7657" r="0" b="-127657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19050"/>
              <a:ext cx="7559040" cy="8481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2D6A4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AUC = 0,602</a:t>
              </a: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11978640" y="6389751"/>
            <a:ext cx="5669280" cy="888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555555"/>
                </a:solidFill>
                <a:latin typeface="Calibri (MS)"/>
                <a:ea typeface="Calibri (MS)"/>
                <a:cs typeface="Calibri (MS)"/>
                <a:sym typeface="Calibri (MS)"/>
              </a:rPr>
              <a:t>Bon recall malgré</a:t>
            </a:r>
          </a:p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555555"/>
                </a:solidFill>
                <a:latin typeface="Calibri (MS)"/>
                <a:ea typeface="Calibri (MS)"/>
                <a:cs typeface="Calibri (MS)"/>
                <a:sym typeface="Calibri (MS)"/>
              </a:rPr>
              <a:t>une AUC moindre.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11978640" y="7461504"/>
            <a:ext cx="5669280" cy="512064"/>
            <a:chOff x="0" y="0"/>
            <a:chExt cx="7559040" cy="682752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559040" cy="682752"/>
            </a:xfrm>
            <a:custGeom>
              <a:avLst/>
              <a:gdLst/>
              <a:ahLst/>
              <a:cxnLst/>
              <a:rect r="r" b="b" t="t" l="l"/>
              <a:pathLst>
                <a:path h="682752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5727" r="0" b="-165727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9525"/>
              <a:ext cx="7559040" cy="6922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2B2B2B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CNN 1D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1978640" y="8010144"/>
            <a:ext cx="5669280" cy="621792"/>
            <a:chOff x="0" y="0"/>
            <a:chExt cx="7559040" cy="82905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7559040" cy="829056"/>
            </a:xfrm>
            <a:custGeom>
              <a:avLst/>
              <a:gdLst/>
              <a:ahLst/>
              <a:cxnLst/>
              <a:rect r="r" b="b" t="t" l="l"/>
              <a:pathLst>
                <a:path h="829056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7657" r="0" b="-127657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19050"/>
              <a:ext cx="7559040" cy="8481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2D6A4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AUC = 0,546</a:t>
              </a: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11978640" y="8657463"/>
            <a:ext cx="5669280" cy="888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555555"/>
                </a:solidFill>
                <a:latin typeface="Calibri (MS)"/>
                <a:ea typeface="Calibri (MS)"/>
                <a:cs typeface="Calibri (MS)"/>
                <a:sym typeface="Calibri (MS)"/>
              </a:rPr>
              <a:t>Proche de l'aléatoire —</a:t>
            </a:r>
          </a:p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555555"/>
                </a:solidFill>
                <a:latin typeface="Calibri (MS)"/>
                <a:ea typeface="Calibri (MS)"/>
                <a:cs typeface="Calibri (MS)"/>
                <a:sym typeface="Calibri (MS)"/>
              </a:rPr>
              <a:t>courbe orange collée à la diagonale.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01703" y="609095"/>
            <a:ext cx="135131" cy="427739"/>
            <a:chOff x="0" y="0"/>
            <a:chExt cx="180175" cy="5703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0213" cy="570357"/>
            </a:xfrm>
            <a:custGeom>
              <a:avLst/>
              <a:gdLst/>
              <a:ahLst/>
              <a:cxnLst/>
              <a:rect r="r" b="b" t="t" l="l"/>
              <a:pathLst>
                <a:path h="570357" w="180213">
                  <a:moveTo>
                    <a:pt x="0" y="0"/>
                  </a:moveTo>
                  <a:lnTo>
                    <a:pt x="180213" y="0"/>
                  </a:lnTo>
                  <a:lnTo>
                    <a:pt x="180213" y="570357"/>
                  </a:lnTo>
                  <a:lnTo>
                    <a:pt x="0" y="570357"/>
                  </a:lnTo>
                  <a:close/>
                </a:path>
              </a:pathLst>
            </a:custGeom>
            <a:solidFill>
              <a:srgbClr val="2D6A4F"/>
            </a:solidFill>
            <a:ln w="25400" cap="sq">
              <a:solidFill>
                <a:srgbClr val="2D6A4F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243584" y="548640"/>
            <a:ext cx="16093440" cy="548640"/>
            <a:chOff x="0" y="0"/>
            <a:chExt cx="21457920" cy="7315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457920" cy="731520"/>
            </a:xfrm>
            <a:custGeom>
              <a:avLst/>
              <a:gdLst/>
              <a:ahLst/>
              <a:cxnLst/>
              <a:rect r="r" b="b" t="t" l="l"/>
              <a:pathLst>
                <a:path h="73152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1561" r="0" b="-521561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14579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359">
                  <a:solidFill>
                    <a:srgbClr val="2D6A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05 · ÉVALUATION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" y="1243584"/>
            <a:ext cx="16459200" cy="1097280"/>
            <a:chOff x="0" y="0"/>
            <a:chExt cx="21945600" cy="14630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2194560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sz="5599" b="true">
                  <a:solidFill>
                    <a:srgbClr val="2B2B2B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Récapitulatif des performances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01703" y="2584199"/>
            <a:ext cx="16484603" cy="43691"/>
            <a:chOff x="0" y="0"/>
            <a:chExt cx="21979471" cy="5825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979510" cy="58293"/>
            </a:xfrm>
            <a:custGeom>
              <a:avLst/>
              <a:gdLst/>
              <a:ahLst/>
              <a:cxnLst/>
              <a:rect r="r" b="b" t="t" l="l"/>
              <a:pathLst>
                <a:path h="58293" w="21979510">
                  <a:moveTo>
                    <a:pt x="0" y="0"/>
                  </a:moveTo>
                  <a:lnTo>
                    <a:pt x="21979510" y="0"/>
                  </a:lnTo>
                  <a:lnTo>
                    <a:pt x="21979510" y="58293"/>
                  </a:lnTo>
                  <a:lnTo>
                    <a:pt x="0" y="58293"/>
                  </a:lnTo>
                  <a:close/>
                </a:path>
              </a:pathLst>
            </a:custGeom>
            <a:solidFill>
              <a:srgbClr val="DDDDDD"/>
            </a:solidFill>
            <a:ln w="25400" cap="sq">
              <a:solidFill>
                <a:srgbClr val="DDDDDD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901703" y="2840231"/>
            <a:ext cx="3865883" cy="756923"/>
            <a:chOff x="0" y="0"/>
            <a:chExt cx="5154511" cy="100923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154549" cy="1009269"/>
            </a:xfrm>
            <a:custGeom>
              <a:avLst/>
              <a:gdLst/>
              <a:ahLst/>
              <a:cxnLst/>
              <a:rect r="r" b="b" t="t" l="l"/>
              <a:pathLst>
                <a:path h="1009269" w="5154549">
                  <a:moveTo>
                    <a:pt x="0" y="0"/>
                  </a:moveTo>
                  <a:lnTo>
                    <a:pt x="5154549" y="0"/>
                  </a:lnTo>
                  <a:lnTo>
                    <a:pt x="5154549" y="1009269"/>
                  </a:lnTo>
                  <a:lnTo>
                    <a:pt x="0" y="1009269"/>
                  </a:lnTo>
                  <a:close/>
                </a:path>
              </a:pathLst>
            </a:custGeom>
            <a:solidFill>
              <a:srgbClr val="2B2B2B"/>
            </a:solidFill>
            <a:ln w="25400" cap="sq">
              <a:solidFill>
                <a:srgbClr val="2B2B2B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914400" y="2852928"/>
            <a:ext cx="3840480" cy="731520"/>
            <a:chOff x="0" y="0"/>
            <a:chExt cx="5120640" cy="97536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120640" cy="975360"/>
            </a:xfrm>
            <a:custGeom>
              <a:avLst/>
              <a:gdLst/>
              <a:ahLst/>
              <a:cxnLst/>
              <a:rect r="r" b="b" t="t" l="l"/>
              <a:pathLst>
                <a:path h="97536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296" r="0" b="-52296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512064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Modèle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4742183" y="2840231"/>
            <a:ext cx="2256539" cy="756923"/>
            <a:chOff x="0" y="0"/>
            <a:chExt cx="3008719" cy="100923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008757" cy="1009269"/>
            </a:xfrm>
            <a:custGeom>
              <a:avLst/>
              <a:gdLst/>
              <a:ahLst/>
              <a:cxnLst/>
              <a:rect r="r" b="b" t="t" l="l"/>
              <a:pathLst>
                <a:path h="1009269" w="3008757">
                  <a:moveTo>
                    <a:pt x="0" y="0"/>
                  </a:moveTo>
                  <a:lnTo>
                    <a:pt x="3008757" y="0"/>
                  </a:lnTo>
                  <a:lnTo>
                    <a:pt x="3008757" y="1009269"/>
                  </a:lnTo>
                  <a:lnTo>
                    <a:pt x="0" y="1009269"/>
                  </a:lnTo>
                  <a:close/>
                </a:path>
              </a:pathLst>
            </a:custGeom>
            <a:solidFill>
              <a:srgbClr val="2B2B2B"/>
            </a:solidFill>
            <a:ln w="25400" cap="sq">
              <a:solidFill>
                <a:srgbClr val="2B2B2B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4754880" y="2852928"/>
            <a:ext cx="2231136" cy="731520"/>
            <a:chOff x="0" y="0"/>
            <a:chExt cx="2974848" cy="97536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974848" cy="975360"/>
            </a:xfrm>
            <a:custGeom>
              <a:avLst/>
              <a:gdLst/>
              <a:ahLst/>
              <a:cxnLst/>
              <a:rect r="r" b="b" t="t" l="l"/>
              <a:pathLst>
                <a:path h="975360" w="2974848">
                  <a:moveTo>
                    <a:pt x="0" y="0"/>
                  </a:moveTo>
                  <a:lnTo>
                    <a:pt x="2974848" y="0"/>
                  </a:lnTo>
                  <a:lnTo>
                    <a:pt x="2974848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429" r="0" b="-9429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2974848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Accuracy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6973319" y="2840231"/>
            <a:ext cx="2256539" cy="756923"/>
            <a:chOff x="0" y="0"/>
            <a:chExt cx="3008719" cy="100923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008757" cy="1009269"/>
            </a:xfrm>
            <a:custGeom>
              <a:avLst/>
              <a:gdLst/>
              <a:ahLst/>
              <a:cxnLst/>
              <a:rect r="r" b="b" t="t" l="l"/>
              <a:pathLst>
                <a:path h="1009269" w="3008757">
                  <a:moveTo>
                    <a:pt x="0" y="0"/>
                  </a:moveTo>
                  <a:lnTo>
                    <a:pt x="3008757" y="0"/>
                  </a:lnTo>
                  <a:lnTo>
                    <a:pt x="3008757" y="1009269"/>
                  </a:lnTo>
                  <a:lnTo>
                    <a:pt x="0" y="1009269"/>
                  </a:lnTo>
                  <a:close/>
                </a:path>
              </a:pathLst>
            </a:custGeom>
            <a:solidFill>
              <a:srgbClr val="2B2B2B"/>
            </a:solidFill>
            <a:ln w="25400" cap="sq">
              <a:solidFill>
                <a:srgbClr val="2B2B2B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6986016" y="2852928"/>
            <a:ext cx="2231136" cy="731520"/>
            <a:chOff x="0" y="0"/>
            <a:chExt cx="2974848" cy="97536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974848" cy="975360"/>
            </a:xfrm>
            <a:custGeom>
              <a:avLst/>
              <a:gdLst/>
              <a:ahLst/>
              <a:cxnLst/>
              <a:rect r="r" b="b" t="t" l="l"/>
              <a:pathLst>
                <a:path h="975360" w="2974848">
                  <a:moveTo>
                    <a:pt x="0" y="0"/>
                  </a:moveTo>
                  <a:lnTo>
                    <a:pt x="2974848" y="0"/>
                  </a:lnTo>
                  <a:lnTo>
                    <a:pt x="2974848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429" r="0" b="-9429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47625"/>
              <a:ext cx="2974848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Precision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204455" y="2840231"/>
            <a:ext cx="2256539" cy="756923"/>
            <a:chOff x="0" y="0"/>
            <a:chExt cx="3008719" cy="1009231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008757" cy="1009269"/>
            </a:xfrm>
            <a:custGeom>
              <a:avLst/>
              <a:gdLst/>
              <a:ahLst/>
              <a:cxnLst/>
              <a:rect r="r" b="b" t="t" l="l"/>
              <a:pathLst>
                <a:path h="1009269" w="3008757">
                  <a:moveTo>
                    <a:pt x="0" y="0"/>
                  </a:moveTo>
                  <a:lnTo>
                    <a:pt x="3008757" y="0"/>
                  </a:lnTo>
                  <a:lnTo>
                    <a:pt x="3008757" y="1009269"/>
                  </a:lnTo>
                  <a:lnTo>
                    <a:pt x="0" y="1009269"/>
                  </a:lnTo>
                  <a:close/>
                </a:path>
              </a:pathLst>
            </a:custGeom>
            <a:solidFill>
              <a:srgbClr val="2B2B2B"/>
            </a:solidFill>
            <a:ln w="25400" cap="sq">
              <a:solidFill>
                <a:srgbClr val="2B2B2B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9217152" y="2852928"/>
            <a:ext cx="2231136" cy="731520"/>
            <a:chOff x="0" y="0"/>
            <a:chExt cx="2974848" cy="97536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974848" cy="975360"/>
            </a:xfrm>
            <a:custGeom>
              <a:avLst/>
              <a:gdLst/>
              <a:ahLst/>
              <a:cxnLst/>
              <a:rect r="r" b="b" t="t" l="l"/>
              <a:pathLst>
                <a:path h="975360" w="2974848">
                  <a:moveTo>
                    <a:pt x="0" y="0"/>
                  </a:moveTo>
                  <a:lnTo>
                    <a:pt x="2974848" y="0"/>
                  </a:lnTo>
                  <a:lnTo>
                    <a:pt x="2974848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429" r="0" b="-9429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2974848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Recall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1435591" y="2840231"/>
            <a:ext cx="2256539" cy="756923"/>
            <a:chOff x="0" y="0"/>
            <a:chExt cx="3008719" cy="1009231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008757" cy="1009269"/>
            </a:xfrm>
            <a:custGeom>
              <a:avLst/>
              <a:gdLst/>
              <a:ahLst/>
              <a:cxnLst/>
              <a:rect r="r" b="b" t="t" l="l"/>
              <a:pathLst>
                <a:path h="1009269" w="3008757">
                  <a:moveTo>
                    <a:pt x="0" y="0"/>
                  </a:moveTo>
                  <a:lnTo>
                    <a:pt x="3008757" y="0"/>
                  </a:lnTo>
                  <a:lnTo>
                    <a:pt x="3008757" y="1009269"/>
                  </a:lnTo>
                  <a:lnTo>
                    <a:pt x="0" y="1009269"/>
                  </a:lnTo>
                  <a:close/>
                </a:path>
              </a:pathLst>
            </a:custGeom>
            <a:solidFill>
              <a:srgbClr val="2B2B2B"/>
            </a:solidFill>
            <a:ln w="25400" cap="sq">
              <a:solidFill>
                <a:srgbClr val="2B2B2B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11448288" y="2852928"/>
            <a:ext cx="2231136" cy="731520"/>
            <a:chOff x="0" y="0"/>
            <a:chExt cx="2974848" cy="97536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974848" cy="975360"/>
            </a:xfrm>
            <a:custGeom>
              <a:avLst/>
              <a:gdLst/>
              <a:ahLst/>
              <a:cxnLst/>
              <a:rect r="r" b="b" t="t" l="l"/>
              <a:pathLst>
                <a:path h="975360" w="2974848">
                  <a:moveTo>
                    <a:pt x="0" y="0"/>
                  </a:moveTo>
                  <a:lnTo>
                    <a:pt x="2974848" y="0"/>
                  </a:lnTo>
                  <a:lnTo>
                    <a:pt x="2974848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429" r="0" b="-9429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47625"/>
              <a:ext cx="2974848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F1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3666727" y="2840231"/>
            <a:ext cx="2256539" cy="756923"/>
            <a:chOff x="0" y="0"/>
            <a:chExt cx="3008719" cy="1009231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3008757" cy="1009269"/>
            </a:xfrm>
            <a:custGeom>
              <a:avLst/>
              <a:gdLst/>
              <a:ahLst/>
              <a:cxnLst/>
              <a:rect r="r" b="b" t="t" l="l"/>
              <a:pathLst>
                <a:path h="1009269" w="3008757">
                  <a:moveTo>
                    <a:pt x="0" y="0"/>
                  </a:moveTo>
                  <a:lnTo>
                    <a:pt x="3008757" y="0"/>
                  </a:lnTo>
                  <a:lnTo>
                    <a:pt x="3008757" y="1009269"/>
                  </a:lnTo>
                  <a:lnTo>
                    <a:pt x="0" y="1009269"/>
                  </a:lnTo>
                  <a:close/>
                </a:path>
              </a:pathLst>
            </a:custGeom>
            <a:solidFill>
              <a:srgbClr val="2B2B2B"/>
            </a:solidFill>
            <a:ln w="25400" cap="sq">
              <a:solidFill>
                <a:srgbClr val="2B2B2B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13679424" y="2852928"/>
            <a:ext cx="2231136" cy="731520"/>
            <a:chOff x="0" y="0"/>
            <a:chExt cx="2974848" cy="97536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974848" cy="975360"/>
            </a:xfrm>
            <a:custGeom>
              <a:avLst/>
              <a:gdLst/>
              <a:ahLst/>
              <a:cxnLst/>
              <a:rect r="r" b="b" t="t" l="l"/>
              <a:pathLst>
                <a:path h="975360" w="2974848">
                  <a:moveTo>
                    <a:pt x="0" y="0"/>
                  </a:moveTo>
                  <a:lnTo>
                    <a:pt x="2974848" y="0"/>
                  </a:lnTo>
                  <a:lnTo>
                    <a:pt x="2974848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429" r="0" b="-9429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47625"/>
              <a:ext cx="2974848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AUC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908047" y="3578095"/>
            <a:ext cx="3853177" cy="744217"/>
            <a:chOff x="0" y="0"/>
            <a:chExt cx="5137569" cy="992289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5137531" cy="992251"/>
            </a:xfrm>
            <a:custGeom>
              <a:avLst/>
              <a:gdLst/>
              <a:ahLst/>
              <a:cxnLst/>
              <a:rect r="r" b="b" t="t" l="l"/>
              <a:pathLst>
                <a:path h="992251" w="5137531">
                  <a:moveTo>
                    <a:pt x="0" y="0"/>
                  </a:moveTo>
                  <a:lnTo>
                    <a:pt x="5137531" y="0"/>
                  </a:lnTo>
                  <a:lnTo>
                    <a:pt x="5137531" y="992251"/>
                  </a:lnTo>
                  <a:lnTo>
                    <a:pt x="0" y="992251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DDDDDD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914400" y="3584448"/>
            <a:ext cx="3840480" cy="731520"/>
            <a:chOff x="0" y="0"/>
            <a:chExt cx="5120640" cy="97536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120640" cy="975360"/>
            </a:xfrm>
            <a:custGeom>
              <a:avLst/>
              <a:gdLst/>
              <a:ahLst/>
              <a:cxnLst/>
              <a:rect r="r" b="b" t="t" l="l"/>
              <a:pathLst>
                <a:path h="97536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296" r="0" b="-52296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47625"/>
              <a:ext cx="512064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2B2B2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Régression Log.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4748527" y="3578095"/>
            <a:ext cx="2243833" cy="744217"/>
            <a:chOff x="0" y="0"/>
            <a:chExt cx="2991777" cy="992289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2991739" cy="992251"/>
            </a:xfrm>
            <a:custGeom>
              <a:avLst/>
              <a:gdLst/>
              <a:ahLst/>
              <a:cxnLst/>
              <a:rect r="r" b="b" t="t" l="l"/>
              <a:pathLst>
                <a:path h="992251" w="2991739">
                  <a:moveTo>
                    <a:pt x="0" y="0"/>
                  </a:moveTo>
                  <a:lnTo>
                    <a:pt x="2991739" y="0"/>
                  </a:lnTo>
                  <a:lnTo>
                    <a:pt x="2991739" y="992251"/>
                  </a:lnTo>
                  <a:lnTo>
                    <a:pt x="0" y="992251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DDDDDD"/>
              </a:solidFill>
              <a:prstDash val="solid"/>
              <a:miter/>
            </a:ln>
          </p:spPr>
        </p:sp>
      </p:grpSp>
      <p:grpSp>
        <p:nvGrpSpPr>
          <p:cNvPr name="Group 49" id="49"/>
          <p:cNvGrpSpPr/>
          <p:nvPr/>
        </p:nvGrpSpPr>
        <p:grpSpPr>
          <a:xfrm rot="0">
            <a:off x="4754880" y="3584448"/>
            <a:ext cx="2231136" cy="731520"/>
            <a:chOff x="0" y="0"/>
            <a:chExt cx="2974848" cy="97536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2974848" cy="975360"/>
            </a:xfrm>
            <a:custGeom>
              <a:avLst/>
              <a:gdLst/>
              <a:ahLst/>
              <a:cxnLst/>
              <a:rect r="r" b="b" t="t" l="l"/>
              <a:pathLst>
                <a:path h="975360" w="2974848">
                  <a:moveTo>
                    <a:pt x="0" y="0"/>
                  </a:moveTo>
                  <a:lnTo>
                    <a:pt x="2974848" y="0"/>
                  </a:lnTo>
                  <a:lnTo>
                    <a:pt x="2974848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429" r="0" b="-9429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47625"/>
              <a:ext cx="2974848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2B2B2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73,3 %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6979663" y="3578095"/>
            <a:ext cx="2243833" cy="744217"/>
            <a:chOff x="0" y="0"/>
            <a:chExt cx="2991777" cy="992289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2991739" cy="992251"/>
            </a:xfrm>
            <a:custGeom>
              <a:avLst/>
              <a:gdLst/>
              <a:ahLst/>
              <a:cxnLst/>
              <a:rect r="r" b="b" t="t" l="l"/>
              <a:pathLst>
                <a:path h="992251" w="2991739">
                  <a:moveTo>
                    <a:pt x="0" y="0"/>
                  </a:moveTo>
                  <a:lnTo>
                    <a:pt x="2991739" y="0"/>
                  </a:lnTo>
                  <a:lnTo>
                    <a:pt x="2991739" y="992251"/>
                  </a:lnTo>
                  <a:lnTo>
                    <a:pt x="0" y="992251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DDDDDD"/>
              </a:solidFill>
              <a:prstDash val="solid"/>
              <a:miter/>
            </a:ln>
          </p:spPr>
        </p:sp>
      </p:grpSp>
      <p:grpSp>
        <p:nvGrpSpPr>
          <p:cNvPr name="Group 54" id="54"/>
          <p:cNvGrpSpPr/>
          <p:nvPr/>
        </p:nvGrpSpPr>
        <p:grpSpPr>
          <a:xfrm rot="0">
            <a:off x="6986016" y="3584448"/>
            <a:ext cx="2231136" cy="731520"/>
            <a:chOff x="0" y="0"/>
            <a:chExt cx="2974848" cy="97536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2974848" cy="975360"/>
            </a:xfrm>
            <a:custGeom>
              <a:avLst/>
              <a:gdLst/>
              <a:ahLst/>
              <a:cxnLst/>
              <a:rect r="r" b="b" t="t" l="l"/>
              <a:pathLst>
                <a:path h="975360" w="2974848">
                  <a:moveTo>
                    <a:pt x="0" y="0"/>
                  </a:moveTo>
                  <a:lnTo>
                    <a:pt x="2974848" y="0"/>
                  </a:lnTo>
                  <a:lnTo>
                    <a:pt x="2974848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429" r="0" b="-9429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47625"/>
              <a:ext cx="2974848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2B2B2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12,6 %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9210799" y="3578095"/>
            <a:ext cx="2243833" cy="744217"/>
            <a:chOff x="0" y="0"/>
            <a:chExt cx="2991777" cy="992289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2991739" cy="992251"/>
            </a:xfrm>
            <a:custGeom>
              <a:avLst/>
              <a:gdLst/>
              <a:ahLst/>
              <a:cxnLst/>
              <a:rect r="r" b="b" t="t" l="l"/>
              <a:pathLst>
                <a:path h="992251" w="2991739">
                  <a:moveTo>
                    <a:pt x="0" y="0"/>
                  </a:moveTo>
                  <a:lnTo>
                    <a:pt x="2991739" y="0"/>
                  </a:lnTo>
                  <a:lnTo>
                    <a:pt x="2991739" y="992251"/>
                  </a:lnTo>
                  <a:lnTo>
                    <a:pt x="0" y="992251"/>
                  </a:lnTo>
                  <a:close/>
                </a:path>
              </a:pathLst>
            </a:custGeom>
            <a:solidFill>
              <a:srgbClr val="D8EDDF"/>
            </a:solidFill>
            <a:ln w="12700" cap="sq">
              <a:solidFill>
                <a:srgbClr val="DDDDDD"/>
              </a:solidFill>
              <a:prstDash val="solid"/>
              <a:miter/>
            </a:ln>
          </p:spPr>
        </p:sp>
      </p:grpSp>
      <p:grpSp>
        <p:nvGrpSpPr>
          <p:cNvPr name="Group 59" id="59"/>
          <p:cNvGrpSpPr/>
          <p:nvPr/>
        </p:nvGrpSpPr>
        <p:grpSpPr>
          <a:xfrm rot="0">
            <a:off x="9217152" y="3584448"/>
            <a:ext cx="2231136" cy="731520"/>
            <a:chOff x="0" y="0"/>
            <a:chExt cx="2974848" cy="97536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2974848" cy="975360"/>
            </a:xfrm>
            <a:custGeom>
              <a:avLst/>
              <a:gdLst/>
              <a:ahLst/>
              <a:cxnLst/>
              <a:rect r="r" b="b" t="t" l="l"/>
              <a:pathLst>
                <a:path h="975360" w="2974848">
                  <a:moveTo>
                    <a:pt x="0" y="0"/>
                  </a:moveTo>
                  <a:lnTo>
                    <a:pt x="2974848" y="0"/>
                  </a:lnTo>
                  <a:lnTo>
                    <a:pt x="2974848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429" r="0" b="-9429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47625"/>
              <a:ext cx="2974848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2D6A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41,6 %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1441935" y="3578095"/>
            <a:ext cx="2243833" cy="744217"/>
            <a:chOff x="0" y="0"/>
            <a:chExt cx="2991777" cy="992289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2991739" cy="992251"/>
            </a:xfrm>
            <a:custGeom>
              <a:avLst/>
              <a:gdLst/>
              <a:ahLst/>
              <a:cxnLst/>
              <a:rect r="r" b="b" t="t" l="l"/>
              <a:pathLst>
                <a:path h="992251" w="2991739">
                  <a:moveTo>
                    <a:pt x="0" y="0"/>
                  </a:moveTo>
                  <a:lnTo>
                    <a:pt x="2991739" y="0"/>
                  </a:lnTo>
                  <a:lnTo>
                    <a:pt x="2991739" y="992251"/>
                  </a:lnTo>
                  <a:lnTo>
                    <a:pt x="0" y="992251"/>
                  </a:lnTo>
                  <a:close/>
                </a:path>
              </a:pathLst>
            </a:custGeom>
            <a:solidFill>
              <a:srgbClr val="D8EDDF"/>
            </a:solidFill>
            <a:ln w="12700" cap="sq">
              <a:solidFill>
                <a:srgbClr val="DDDDDD"/>
              </a:solidFill>
              <a:prstDash val="solid"/>
              <a:miter/>
            </a:ln>
          </p:spPr>
        </p:sp>
      </p:grpSp>
      <p:grpSp>
        <p:nvGrpSpPr>
          <p:cNvPr name="Group 64" id="64"/>
          <p:cNvGrpSpPr/>
          <p:nvPr/>
        </p:nvGrpSpPr>
        <p:grpSpPr>
          <a:xfrm rot="0">
            <a:off x="11448288" y="3584448"/>
            <a:ext cx="2231136" cy="731520"/>
            <a:chOff x="0" y="0"/>
            <a:chExt cx="2974848" cy="97536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2974848" cy="975360"/>
            </a:xfrm>
            <a:custGeom>
              <a:avLst/>
              <a:gdLst/>
              <a:ahLst/>
              <a:cxnLst/>
              <a:rect r="r" b="b" t="t" l="l"/>
              <a:pathLst>
                <a:path h="975360" w="2974848">
                  <a:moveTo>
                    <a:pt x="0" y="0"/>
                  </a:moveTo>
                  <a:lnTo>
                    <a:pt x="2974848" y="0"/>
                  </a:lnTo>
                  <a:lnTo>
                    <a:pt x="2974848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429" r="0" b="-9429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47625"/>
              <a:ext cx="2974848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2D6A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19,3 %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13673071" y="3578095"/>
            <a:ext cx="2243833" cy="744217"/>
            <a:chOff x="0" y="0"/>
            <a:chExt cx="2991777" cy="992289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2991739" cy="992251"/>
            </a:xfrm>
            <a:custGeom>
              <a:avLst/>
              <a:gdLst/>
              <a:ahLst/>
              <a:cxnLst/>
              <a:rect r="r" b="b" t="t" l="l"/>
              <a:pathLst>
                <a:path h="992251" w="2991739">
                  <a:moveTo>
                    <a:pt x="0" y="0"/>
                  </a:moveTo>
                  <a:lnTo>
                    <a:pt x="2991739" y="0"/>
                  </a:lnTo>
                  <a:lnTo>
                    <a:pt x="2991739" y="992251"/>
                  </a:lnTo>
                  <a:lnTo>
                    <a:pt x="0" y="992251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DDDDDD"/>
              </a:solidFill>
              <a:prstDash val="solid"/>
              <a:miter/>
            </a:ln>
          </p:spPr>
        </p:sp>
      </p:grpSp>
      <p:grpSp>
        <p:nvGrpSpPr>
          <p:cNvPr name="Group 69" id="69"/>
          <p:cNvGrpSpPr/>
          <p:nvPr/>
        </p:nvGrpSpPr>
        <p:grpSpPr>
          <a:xfrm rot="0">
            <a:off x="13679424" y="3584448"/>
            <a:ext cx="2231136" cy="731520"/>
            <a:chOff x="0" y="0"/>
            <a:chExt cx="2974848" cy="97536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2974848" cy="975360"/>
            </a:xfrm>
            <a:custGeom>
              <a:avLst/>
              <a:gdLst/>
              <a:ahLst/>
              <a:cxnLst/>
              <a:rect r="r" b="b" t="t" l="l"/>
              <a:pathLst>
                <a:path h="975360" w="2974848">
                  <a:moveTo>
                    <a:pt x="0" y="0"/>
                  </a:moveTo>
                  <a:lnTo>
                    <a:pt x="2974848" y="0"/>
                  </a:lnTo>
                  <a:lnTo>
                    <a:pt x="2974848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429" r="0" b="-9429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47625"/>
              <a:ext cx="2974848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2B2B2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0,60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908047" y="4309615"/>
            <a:ext cx="3853177" cy="744217"/>
            <a:chOff x="0" y="0"/>
            <a:chExt cx="5137569" cy="992289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5137531" cy="992251"/>
            </a:xfrm>
            <a:custGeom>
              <a:avLst/>
              <a:gdLst/>
              <a:ahLst/>
              <a:cxnLst/>
              <a:rect r="r" b="b" t="t" l="l"/>
              <a:pathLst>
                <a:path h="992251" w="5137531">
                  <a:moveTo>
                    <a:pt x="0" y="0"/>
                  </a:moveTo>
                  <a:lnTo>
                    <a:pt x="5137531" y="0"/>
                  </a:lnTo>
                  <a:lnTo>
                    <a:pt x="5137531" y="992251"/>
                  </a:lnTo>
                  <a:lnTo>
                    <a:pt x="0" y="992251"/>
                  </a:lnTo>
                  <a:close/>
                </a:path>
              </a:pathLst>
            </a:custGeom>
            <a:solidFill>
              <a:srgbClr val="F7F7F5"/>
            </a:solidFill>
            <a:ln w="12700" cap="sq">
              <a:solidFill>
                <a:srgbClr val="DDDDDD"/>
              </a:solidFill>
              <a:prstDash val="solid"/>
              <a:miter/>
            </a:ln>
          </p:spPr>
        </p:sp>
      </p:grpSp>
      <p:grpSp>
        <p:nvGrpSpPr>
          <p:cNvPr name="Group 74" id="74"/>
          <p:cNvGrpSpPr/>
          <p:nvPr/>
        </p:nvGrpSpPr>
        <p:grpSpPr>
          <a:xfrm rot="0">
            <a:off x="914400" y="4315968"/>
            <a:ext cx="3840480" cy="731520"/>
            <a:chOff x="0" y="0"/>
            <a:chExt cx="5120640" cy="97536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5120640" cy="975360"/>
            </a:xfrm>
            <a:custGeom>
              <a:avLst/>
              <a:gdLst/>
              <a:ahLst/>
              <a:cxnLst/>
              <a:rect r="r" b="b" t="t" l="l"/>
              <a:pathLst>
                <a:path h="97536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296" r="0" b="-52296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47625"/>
              <a:ext cx="512064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2B2B2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Random Forest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4748527" y="4309615"/>
            <a:ext cx="2243833" cy="744217"/>
            <a:chOff x="0" y="0"/>
            <a:chExt cx="2991777" cy="992289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2991739" cy="992251"/>
            </a:xfrm>
            <a:custGeom>
              <a:avLst/>
              <a:gdLst/>
              <a:ahLst/>
              <a:cxnLst/>
              <a:rect r="r" b="b" t="t" l="l"/>
              <a:pathLst>
                <a:path h="992251" w="2991739">
                  <a:moveTo>
                    <a:pt x="0" y="0"/>
                  </a:moveTo>
                  <a:lnTo>
                    <a:pt x="2991739" y="0"/>
                  </a:lnTo>
                  <a:lnTo>
                    <a:pt x="2991739" y="992251"/>
                  </a:lnTo>
                  <a:lnTo>
                    <a:pt x="0" y="992251"/>
                  </a:lnTo>
                  <a:close/>
                </a:path>
              </a:pathLst>
            </a:custGeom>
            <a:solidFill>
              <a:srgbClr val="F7F7F5"/>
            </a:solidFill>
            <a:ln w="12700" cap="sq">
              <a:solidFill>
                <a:srgbClr val="DDDDDD"/>
              </a:solidFill>
              <a:prstDash val="solid"/>
              <a:miter/>
            </a:ln>
          </p:spPr>
        </p:sp>
      </p:grpSp>
      <p:grpSp>
        <p:nvGrpSpPr>
          <p:cNvPr name="Group 79" id="79"/>
          <p:cNvGrpSpPr/>
          <p:nvPr/>
        </p:nvGrpSpPr>
        <p:grpSpPr>
          <a:xfrm rot="0">
            <a:off x="4754880" y="4315968"/>
            <a:ext cx="2231136" cy="731520"/>
            <a:chOff x="0" y="0"/>
            <a:chExt cx="2974848" cy="97536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2974848" cy="975360"/>
            </a:xfrm>
            <a:custGeom>
              <a:avLst/>
              <a:gdLst/>
              <a:ahLst/>
              <a:cxnLst/>
              <a:rect r="r" b="b" t="t" l="l"/>
              <a:pathLst>
                <a:path h="975360" w="2974848">
                  <a:moveTo>
                    <a:pt x="0" y="0"/>
                  </a:moveTo>
                  <a:lnTo>
                    <a:pt x="2974848" y="0"/>
                  </a:lnTo>
                  <a:lnTo>
                    <a:pt x="2974848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429" r="0" b="-9429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47625"/>
              <a:ext cx="2974848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2B2B2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83,1 %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6979663" y="4309615"/>
            <a:ext cx="2243833" cy="744217"/>
            <a:chOff x="0" y="0"/>
            <a:chExt cx="2991777" cy="992289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2991739" cy="992251"/>
            </a:xfrm>
            <a:custGeom>
              <a:avLst/>
              <a:gdLst/>
              <a:ahLst/>
              <a:cxnLst/>
              <a:rect r="r" b="b" t="t" l="l"/>
              <a:pathLst>
                <a:path h="992251" w="2991739">
                  <a:moveTo>
                    <a:pt x="0" y="0"/>
                  </a:moveTo>
                  <a:lnTo>
                    <a:pt x="2991739" y="0"/>
                  </a:lnTo>
                  <a:lnTo>
                    <a:pt x="2991739" y="992251"/>
                  </a:lnTo>
                  <a:lnTo>
                    <a:pt x="0" y="992251"/>
                  </a:lnTo>
                  <a:close/>
                </a:path>
              </a:pathLst>
            </a:custGeom>
            <a:solidFill>
              <a:srgbClr val="F7F7F5"/>
            </a:solidFill>
            <a:ln w="12700" cap="sq">
              <a:solidFill>
                <a:srgbClr val="DDDDDD"/>
              </a:solidFill>
              <a:prstDash val="solid"/>
              <a:miter/>
            </a:ln>
          </p:spPr>
        </p:sp>
      </p:grpSp>
      <p:grpSp>
        <p:nvGrpSpPr>
          <p:cNvPr name="Group 84" id="84"/>
          <p:cNvGrpSpPr/>
          <p:nvPr/>
        </p:nvGrpSpPr>
        <p:grpSpPr>
          <a:xfrm rot="0">
            <a:off x="6986016" y="4315968"/>
            <a:ext cx="2231136" cy="731520"/>
            <a:chOff x="0" y="0"/>
            <a:chExt cx="2974848" cy="975360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2974848" cy="975360"/>
            </a:xfrm>
            <a:custGeom>
              <a:avLst/>
              <a:gdLst/>
              <a:ahLst/>
              <a:cxnLst/>
              <a:rect r="r" b="b" t="t" l="l"/>
              <a:pathLst>
                <a:path h="975360" w="2974848">
                  <a:moveTo>
                    <a:pt x="0" y="0"/>
                  </a:moveTo>
                  <a:lnTo>
                    <a:pt x="2974848" y="0"/>
                  </a:lnTo>
                  <a:lnTo>
                    <a:pt x="2974848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429" r="0" b="-9429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47625"/>
              <a:ext cx="2974848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2B2B2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11,0 %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9210799" y="4309615"/>
            <a:ext cx="2243833" cy="744217"/>
            <a:chOff x="0" y="0"/>
            <a:chExt cx="2991777" cy="992289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2991739" cy="992251"/>
            </a:xfrm>
            <a:custGeom>
              <a:avLst/>
              <a:gdLst/>
              <a:ahLst/>
              <a:cxnLst/>
              <a:rect r="r" b="b" t="t" l="l"/>
              <a:pathLst>
                <a:path h="992251" w="2991739">
                  <a:moveTo>
                    <a:pt x="0" y="0"/>
                  </a:moveTo>
                  <a:lnTo>
                    <a:pt x="2991739" y="0"/>
                  </a:lnTo>
                  <a:lnTo>
                    <a:pt x="2991739" y="992251"/>
                  </a:lnTo>
                  <a:lnTo>
                    <a:pt x="0" y="992251"/>
                  </a:lnTo>
                  <a:close/>
                </a:path>
              </a:pathLst>
            </a:custGeom>
            <a:solidFill>
              <a:srgbClr val="F7F7F5"/>
            </a:solidFill>
            <a:ln w="12700" cap="sq">
              <a:solidFill>
                <a:srgbClr val="DDDDDD"/>
              </a:solidFill>
              <a:prstDash val="solid"/>
              <a:miter/>
            </a:ln>
          </p:spPr>
        </p:sp>
      </p:grpSp>
      <p:grpSp>
        <p:nvGrpSpPr>
          <p:cNvPr name="Group 89" id="89"/>
          <p:cNvGrpSpPr/>
          <p:nvPr/>
        </p:nvGrpSpPr>
        <p:grpSpPr>
          <a:xfrm rot="0">
            <a:off x="9217152" y="4315968"/>
            <a:ext cx="2231136" cy="731520"/>
            <a:chOff x="0" y="0"/>
            <a:chExt cx="2974848" cy="97536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2974848" cy="975360"/>
            </a:xfrm>
            <a:custGeom>
              <a:avLst/>
              <a:gdLst/>
              <a:ahLst/>
              <a:cxnLst/>
              <a:rect r="r" b="b" t="t" l="l"/>
              <a:pathLst>
                <a:path h="975360" w="2974848">
                  <a:moveTo>
                    <a:pt x="0" y="0"/>
                  </a:moveTo>
                  <a:lnTo>
                    <a:pt x="2974848" y="0"/>
                  </a:lnTo>
                  <a:lnTo>
                    <a:pt x="2974848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429" r="0" b="-9429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47625"/>
              <a:ext cx="2974848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2B2B2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16,9 %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11441935" y="4309615"/>
            <a:ext cx="2243833" cy="744217"/>
            <a:chOff x="0" y="0"/>
            <a:chExt cx="2991777" cy="992289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2991739" cy="992251"/>
            </a:xfrm>
            <a:custGeom>
              <a:avLst/>
              <a:gdLst/>
              <a:ahLst/>
              <a:cxnLst/>
              <a:rect r="r" b="b" t="t" l="l"/>
              <a:pathLst>
                <a:path h="992251" w="2991739">
                  <a:moveTo>
                    <a:pt x="0" y="0"/>
                  </a:moveTo>
                  <a:lnTo>
                    <a:pt x="2991739" y="0"/>
                  </a:lnTo>
                  <a:lnTo>
                    <a:pt x="2991739" y="992251"/>
                  </a:lnTo>
                  <a:lnTo>
                    <a:pt x="0" y="992251"/>
                  </a:lnTo>
                  <a:close/>
                </a:path>
              </a:pathLst>
            </a:custGeom>
            <a:solidFill>
              <a:srgbClr val="F7F7F5"/>
            </a:solidFill>
            <a:ln w="12700" cap="sq">
              <a:solidFill>
                <a:srgbClr val="DDDDDD"/>
              </a:solidFill>
              <a:prstDash val="solid"/>
              <a:miter/>
            </a:ln>
          </p:spPr>
        </p:sp>
      </p:grpSp>
      <p:grpSp>
        <p:nvGrpSpPr>
          <p:cNvPr name="Group 94" id="94"/>
          <p:cNvGrpSpPr/>
          <p:nvPr/>
        </p:nvGrpSpPr>
        <p:grpSpPr>
          <a:xfrm rot="0">
            <a:off x="11448288" y="4315968"/>
            <a:ext cx="2231136" cy="731520"/>
            <a:chOff x="0" y="0"/>
            <a:chExt cx="2974848" cy="975360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2974848" cy="975360"/>
            </a:xfrm>
            <a:custGeom>
              <a:avLst/>
              <a:gdLst/>
              <a:ahLst/>
              <a:cxnLst/>
              <a:rect r="r" b="b" t="t" l="l"/>
              <a:pathLst>
                <a:path h="975360" w="2974848">
                  <a:moveTo>
                    <a:pt x="0" y="0"/>
                  </a:moveTo>
                  <a:lnTo>
                    <a:pt x="2974848" y="0"/>
                  </a:lnTo>
                  <a:lnTo>
                    <a:pt x="2974848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429" r="0" b="-9429"/>
              </a:stretch>
            </a:blipFill>
          </p:spPr>
        </p:sp>
        <p:sp>
          <p:nvSpPr>
            <p:cNvPr name="TextBox 96" id="96"/>
            <p:cNvSpPr txBox="true"/>
            <p:nvPr/>
          </p:nvSpPr>
          <p:spPr>
            <a:xfrm>
              <a:off x="0" y="-47625"/>
              <a:ext cx="2974848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2B2B2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13,3 %</a:t>
              </a:r>
            </a:p>
          </p:txBody>
        </p:sp>
      </p:grpSp>
      <p:grpSp>
        <p:nvGrpSpPr>
          <p:cNvPr name="Group 97" id="97"/>
          <p:cNvGrpSpPr/>
          <p:nvPr/>
        </p:nvGrpSpPr>
        <p:grpSpPr>
          <a:xfrm rot="0">
            <a:off x="13673071" y="4309615"/>
            <a:ext cx="2243833" cy="744217"/>
            <a:chOff x="0" y="0"/>
            <a:chExt cx="2991777" cy="992289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2991739" cy="992251"/>
            </a:xfrm>
            <a:custGeom>
              <a:avLst/>
              <a:gdLst/>
              <a:ahLst/>
              <a:cxnLst/>
              <a:rect r="r" b="b" t="t" l="l"/>
              <a:pathLst>
                <a:path h="992251" w="2991739">
                  <a:moveTo>
                    <a:pt x="0" y="0"/>
                  </a:moveTo>
                  <a:lnTo>
                    <a:pt x="2991739" y="0"/>
                  </a:lnTo>
                  <a:lnTo>
                    <a:pt x="2991739" y="992251"/>
                  </a:lnTo>
                  <a:lnTo>
                    <a:pt x="0" y="992251"/>
                  </a:lnTo>
                  <a:close/>
                </a:path>
              </a:pathLst>
            </a:custGeom>
            <a:solidFill>
              <a:srgbClr val="D8EDDF"/>
            </a:solidFill>
            <a:ln w="12700" cap="sq">
              <a:solidFill>
                <a:srgbClr val="DDDDDD"/>
              </a:solidFill>
              <a:prstDash val="solid"/>
              <a:miter/>
            </a:ln>
          </p:spPr>
        </p:sp>
      </p:grpSp>
      <p:grpSp>
        <p:nvGrpSpPr>
          <p:cNvPr name="Group 99" id="99"/>
          <p:cNvGrpSpPr/>
          <p:nvPr/>
        </p:nvGrpSpPr>
        <p:grpSpPr>
          <a:xfrm rot="0">
            <a:off x="13679424" y="4315968"/>
            <a:ext cx="2231136" cy="731520"/>
            <a:chOff x="0" y="0"/>
            <a:chExt cx="2974848" cy="975360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2974848" cy="975360"/>
            </a:xfrm>
            <a:custGeom>
              <a:avLst/>
              <a:gdLst/>
              <a:ahLst/>
              <a:cxnLst/>
              <a:rect r="r" b="b" t="t" l="l"/>
              <a:pathLst>
                <a:path h="975360" w="2974848">
                  <a:moveTo>
                    <a:pt x="0" y="0"/>
                  </a:moveTo>
                  <a:lnTo>
                    <a:pt x="2974848" y="0"/>
                  </a:lnTo>
                  <a:lnTo>
                    <a:pt x="2974848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429" r="0" b="-9429"/>
              </a:stretch>
            </a:blipFill>
          </p:spPr>
        </p:sp>
        <p:sp>
          <p:nvSpPr>
            <p:cNvPr name="TextBox 101" id="101"/>
            <p:cNvSpPr txBox="true"/>
            <p:nvPr/>
          </p:nvSpPr>
          <p:spPr>
            <a:xfrm>
              <a:off x="0" y="-47625"/>
              <a:ext cx="2974848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2D6A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0,64</a:t>
              </a:r>
            </a:p>
          </p:txBody>
        </p:sp>
      </p:grpSp>
      <p:grpSp>
        <p:nvGrpSpPr>
          <p:cNvPr name="Group 102" id="102"/>
          <p:cNvGrpSpPr/>
          <p:nvPr/>
        </p:nvGrpSpPr>
        <p:grpSpPr>
          <a:xfrm rot="0">
            <a:off x="908047" y="5041135"/>
            <a:ext cx="3853177" cy="744217"/>
            <a:chOff x="0" y="0"/>
            <a:chExt cx="5137569" cy="992289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5137531" cy="992251"/>
            </a:xfrm>
            <a:custGeom>
              <a:avLst/>
              <a:gdLst/>
              <a:ahLst/>
              <a:cxnLst/>
              <a:rect r="r" b="b" t="t" l="l"/>
              <a:pathLst>
                <a:path h="992251" w="5137531">
                  <a:moveTo>
                    <a:pt x="0" y="0"/>
                  </a:moveTo>
                  <a:lnTo>
                    <a:pt x="5137531" y="0"/>
                  </a:lnTo>
                  <a:lnTo>
                    <a:pt x="5137531" y="992251"/>
                  </a:lnTo>
                  <a:lnTo>
                    <a:pt x="0" y="992251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DDDDDD"/>
              </a:solidFill>
              <a:prstDash val="solid"/>
              <a:miter/>
            </a:ln>
          </p:spPr>
        </p:sp>
      </p:grpSp>
      <p:grpSp>
        <p:nvGrpSpPr>
          <p:cNvPr name="Group 104" id="104"/>
          <p:cNvGrpSpPr/>
          <p:nvPr/>
        </p:nvGrpSpPr>
        <p:grpSpPr>
          <a:xfrm rot="0">
            <a:off x="914400" y="5047488"/>
            <a:ext cx="3840480" cy="731520"/>
            <a:chOff x="0" y="0"/>
            <a:chExt cx="5120640" cy="975360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5120640" cy="975360"/>
            </a:xfrm>
            <a:custGeom>
              <a:avLst/>
              <a:gdLst/>
              <a:ahLst/>
              <a:cxnLst/>
              <a:rect r="r" b="b" t="t" l="l"/>
              <a:pathLst>
                <a:path h="97536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296" r="0" b="-52296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47625"/>
              <a:ext cx="512064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2B2B2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CNN 1D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4748527" y="5041135"/>
            <a:ext cx="2243833" cy="744217"/>
            <a:chOff x="0" y="0"/>
            <a:chExt cx="2991777" cy="992289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2991739" cy="992251"/>
            </a:xfrm>
            <a:custGeom>
              <a:avLst/>
              <a:gdLst/>
              <a:ahLst/>
              <a:cxnLst/>
              <a:rect r="r" b="b" t="t" l="l"/>
              <a:pathLst>
                <a:path h="992251" w="2991739">
                  <a:moveTo>
                    <a:pt x="0" y="0"/>
                  </a:moveTo>
                  <a:lnTo>
                    <a:pt x="2991739" y="0"/>
                  </a:lnTo>
                  <a:lnTo>
                    <a:pt x="2991739" y="992251"/>
                  </a:lnTo>
                  <a:lnTo>
                    <a:pt x="0" y="992251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DDDDDD"/>
              </a:solidFill>
              <a:prstDash val="solid"/>
              <a:miter/>
            </a:ln>
          </p:spPr>
        </p:sp>
      </p:grpSp>
      <p:grpSp>
        <p:nvGrpSpPr>
          <p:cNvPr name="Group 109" id="109"/>
          <p:cNvGrpSpPr/>
          <p:nvPr/>
        </p:nvGrpSpPr>
        <p:grpSpPr>
          <a:xfrm rot="0">
            <a:off x="4754880" y="5047488"/>
            <a:ext cx="2231136" cy="731520"/>
            <a:chOff x="0" y="0"/>
            <a:chExt cx="2974848" cy="975360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2974848" cy="975360"/>
            </a:xfrm>
            <a:custGeom>
              <a:avLst/>
              <a:gdLst/>
              <a:ahLst/>
              <a:cxnLst/>
              <a:rect r="r" b="b" t="t" l="l"/>
              <a:pathLst>
                <a:path h="975360" w="2974848">
                  <a:moveTo>
                    <a:pt x="0" y="0"/>
                  </a:moveTo>
                  <a:lnTo>
                    <a:pt x="2974848" y="0"/>
                  </a:lnTo>
                  <a:lnTo>
                    <a:pt x="2974848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429" r="0" b="-9429"/>
              </a:stretch>
            </a:blipFill>
          </p:spPr>
        </p:sp>
        <p:sp>
          <p:nvSpPr>
            <p:cNvPr name="TextBox 111" id="111"/>
            <p:cNvSpPr txBox="true"/>
            <p:nvPr/>
          </p:nvSpPr>
          <p:spPr>
            <a:xfrm>
              <a:off x="0" y="-47625"/>
              <a:ext cx="2974848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2B2B2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85,0 %</a:t>
              </a:r>
            </a:p>
          </p:txBody>
        </p:sp>
      </p:grpSp>
      <p:grpSp>
        <p:nvGrpSpPr>
          <p:cNvPr name="Group 112" id="112"/>
          <p:cNvGrpSpPr/>
          <p:nvPr/>
        </p:nvGrpSpPr>
        <p:grpSpPr>
          <a:xfrm rot="0">
            <a:off x="6979663" y="5041135"/>
            <a:ext cx="2243833" cy="744217"/>
            <a:chOff x="0" y="0"/>
            <a:chExt cx="2991777" cy="992289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2991739" cy="992251"/>
            </a:xfrm>
            <a:custGeom>
              <a:avLst/>
              <a:gdLst/>
              <a:ahLst/>
              <a:cxnLst/>
              <a:rect r="r" b="b" t="t" l="l"/>
              <a:pathLst>
                <a:path h="992251" w="2991739">
                  <a:moveTo>
                    <a:pt x="0" y="0"/>
                  </a:moveTo>
                  <a:lnTo>
                    <a:pt x="2991739" y="0"/>
                  </a:lnTo>
                  <a:lnTo>
                    <a:pt x="2991739" y="992251"/>
                  </a:lnTo>
                  <a:lnTo>
                    <a:pt x="0" y="992251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DDDDDD"/>
              </a:solidFill>
              <a:prstDash val="solid"/>
              <a:miter/>
            </a:ln>
          </p:spPr>
        </p:sp>
      </p:grpSp>
      <p:grpSp>
        <p:nvGrpSpPr>
          <p:cNvPr name="Group 114" id="114"/>
          <p:cNvGrpSpPr/>
          <p:nvPr/>
        </p:nvGrpSpPr>
        <p:grpSpPr>
          <a:xfrm rot="0">
            <a:off x="6986016" y="5047488"/>
            <a:ext cx="2231136" cy="731520"/>
            <a:chOff x="0" y="0"/>
            <a:chExt cx="2974848" cy="975360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2974848" cy="975360"/>
            </a:xfrm>
            <a:custGeom>
              <a:avLst/>
              <a:gdLst/>
              <a:ahLst/>
              <a:cxnLst/>
              <a:rect r="r" b="b" t="t" l="l"/>
              <a:pathLst>
                <a:path h="975360" w="2974848">
                  <a:moveTo>
                    <a:pt x="0" y="0"/>
                  </a:moveTo>
                  <a:lnTo>
                    <a:pt x="2974848" y="0"/>
                  </a:lnTo>
                  <a:lnTo>
                    <a:pt x="2974848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429" r="0" b="-9429"/>
              </a:stretch>
            </a:blipFill>
          </p:spPr>
        </p:sp>
        <p:sp>
          <p:nvSpPr>
            <p:cNvPr name="TextBox 116" id="116"/>
            <p:cNvSpPr txBox="true"/>
            <p:nvPr/>
          </p:nvSpPr>
          <p:spPr>
            <a:xfrm>
              <a:off x="0" y="-47625"/>
              <a:ext cx="2974848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2B2B2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8,1 %</a:t>
              </a:r>
            </a:p>
          </p:txBody>
        </p:sp>
      </p:grpSp>
      <p:grpSp>
        <p:nvGrpSpPr>
          <p:cNvPr name="Group 117" id="117"/>
          <p:cNvGrpSpPr/>
          <p:nvPr/>
        </p:nvGrpSpPr>
        <p:grpSpPr>
          <a:xfrm rot="0">
            <a:off x="9210799" y="5041135"/>
            <a:ext cx="2243833" cy="744217"/>
            <a:chOff x="0" y="0"/>
            <a:chExt cx="2991777" cy="992289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2991739" cy="992251"/>
            </a:xfrm>
            <a:custGeom>
              <a:avLst/>
              <a:gdLst/>
              <a:ahLst/>
              <a:cxnLst/>
              <a:rect r="r" b="b" t="t" l="l"/>
              <a:pathLst>
                <a:path h="992251" w="2991739">
                  <a:moveTo>
                    <a:pt x="0" y="0"/>
                  </a:moveTo>
                  <a:lnTo>
                    <a:pt x="2991739" y="0"/>
                  </a:lnTo>
                  <a:lnTo>
                    <a:pt x="2991739" y="992251"/>
                  </a:lnTo>
                  <a:lnTo>
                    <a:pt x="0" y="992251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DDDDDD"/>
              </a:solidFill>
              <a:prstDash val="solid"/>
              <a:miter/>
            </a:ln>
          </p:spPr>
        </p:sp>
      </p:grpSp>
      <p:grpSp>
        <p:nvGrpSpPr>
          <p:cNvPr name="Group 119" id="119"/>
          <p:cNvGrpSpPr/>
          <p:nvPr/>
        </p:nvGrpSpPr>
        <p:grpSpPr>
          <a:xfrm rot="0">
            <a:off x="9217152" y="5047488"/>
            <a:ext cx="2231136" cy="731520"/>
            <a:chOff x="0" y="0"/>
            <a:chExt cx="2974848" cy="975360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2974848" cy="975360"/>
            </a:xfrm>
            <a:custGeom>
              <a:avLst/>
              <a:gdLst/>
              <a:ahLst/>
              <a:cxnLst/>
              <a:rect r="r" b="b" t="t" l="l"/>
              <a:pathLst>
                <a:path h="975360" w="2974848">
                  <a:moveTo>
                    <a:pt x="0" y="0"/>
                  </a:moveTo>
                  <a:lnTo>
                    <a:pt x="2974848" y="0"/>
                  </a:lnTo>
                  <a:lnTo>
                    <a:pt x="2974848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429" r="0" b="-9429"/>
              </a:stretch>
            </a:blipFill>
          </p:spPr>
        </p:sp>
        <p:sp>
          <p:nvSpPr>
            <p:cNvPr name="TextBox 121" id="121"/>
            <p:cNvSpPr txBox="true"/>
            <p:nvPr/>
          </p:nvSpPr>
          <p:spPr>
            <a:xfrm>
              <a:off x="0" y="-47625"/>
              <a:ext cx="2974848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2B2B2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9,1 %</a:t>
              </a:r>
            </a:p>
          </p:txBody>
        </p:sp>
      </p:grpSp>
      <p:grpSp>
        <p:nvGrpSpPr>
          <p:cNvPr name="Group 122" id="122"/>
          <p:cNvGrpSpPr/>
          <p:nvPr/>
        </p:nvGrpSpPr>
        <p:grpSpPr>
          <a:xfrm rot="0">
            <a:off x="11441935" y="5041135"/>
            <a:ext cx="2243833" cy="744217"/>
            <a:chOff x="0" y="0"/>
            <a:chExt cx="2991777" cy="992289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2991739" cy="992251"/>
            </a:xfrm>
            <a:custGeom>
              <a:avLst/>
              <a:gdLst/>
              <a:ahLst/>
              <a:cxnLst/>
              <a:rect r="r" b="b" t="t" l="l"/>
              <a:pathLst>
                <a:path h="992251" w="2991739">
                  <a:moveTo>
                    <a:pt x="0" y="0"/>
                  </a:moveTo>
                  <a:lnTo>
                    <a:pt x="2991739" y="0"/>
                  </a:lnTo>
                  <a:lnTo>
                    <a:pt x="2991739" y="992251"/>
                  </a:lnTo>
                  <a:lnTo>
                    <a:pt x="0" y="992251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DDDDDD"/>
              </a:solidFill>
              <a:prstDash val="solid"/>
              <a:miter/>
            </a:ln>
          </p:spPr>
        </p:sp>
      </p:grpSp>
      <p:grpSp>
        <p:nvGrpSpPr>
          <p:cNvPr name="Group 124" id="124"/>
          <p:cNvGrpSpPr/>
          <p:nvPr/>
        </p:nvGrpSpPr>
        <p:grpSpPr>
          <a:xfrm rot="0">
            <a:off x="11448288" y="5047488"/>
            <a:ext cx="2231136" cy="731520"/>
            <a:chOff x="0" y="0"/>
            <a:chExt cx="2974848" cy="975360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2974848" cy="975360"/>
            </a:xfrm>
            <a:custGeom>
              <a:avLst/>
              <a:gdLst/>
              <a:ahLst/>
              <a:cxnLst/>
              <a:rect r="r" b="b" t="t" l="l"/>
              <a:pathLst>
                <a:path h="975360" w="2974848">
                  <a:moveTo>
                    <a:pt x="0" y="0"/>
                  </a:moveTo>
                  <a:lnTo>
                    <a:pt x="2974848" y="0"/>
                  </a:lnTo>
                  <a:lnTo>
                    <a:pt x="2974848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429" r="0" b="-9429"/>
              </a:stretch>
            </a:blipFill>
          </p:spPr>
        </p:sp>
        <p:sp>
          <p:nvSpPr>
            <p:cNvPr name="TextBox 126" id="126"/>
            <p:cNvSpPr txBox="true"/>
            <p:nvPr/>
          </p:nvSpPr>
          <p:spPr>
            <a:xfrm>
              <a:off x="0" y="-47625"/>
              <a:ext cx="2974848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2B2B2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8,5 %</a:t>
              </a:r>
            </a:p>
          </p:txBody>
        </p:sp>
      </p:grpSp>
      <p:grpSp>
        <p:nvGrpSpPr>
          <p:cNvPr name="Group 127" id="127"/>
          <p:cNvGrpSpPr/>
          <p:nvPr/>
        </p:nvGrpSpPr>
        <p:grpSpPr>
          <a:xfrm rot="0">
            <a:off x="13673071" y="5041135"/>
            <a:ext cx="2243833" cy="744217"/>
            <a:chOff x="0" y="0"/>
            <a:chExt cx="2991777" cy="992289"/>
          </a:xfrm>
        </p:grpSpPr>
        <p:sp>
          <p:nvSpPr>
            <p:cNvPr name="Freeform 128" id="128"/>
            <p:cNvSpPr/>
            <p:nvPr/>
          </p:nvSpPr>
          <p:spPr>
            <a:xfrm flipH="false" flipV="false" rot="0">
              <a:off x="0" y="0"/>
              <a:ext cx="2991739" cy="992251"/>
            </a:xfrm>
            <a:custGeom>
              <a:avLst/>
              <a:gdLst/>
              <a:ahLst/>
              <a:cxnLst/>
              <a:rect r="r" b="b" t="t" l="l"/>
              <a:pathLst>
                <a:path h="992251" w="2991739">
                  <a:moveTo>
                    <a:pt x="0" y="0"/>
                  </a:moveTo>
                  <a:lnTo>
                    <a:pt x="2991739" y="0"/>
                  </a:lnTo>
                  <a:lnTo>
                    <a:pt x="2991739" y="992251"/>
                  </a:lnTo>
                  <a:lnTo>
                    <a:pt x="0" y="992251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DDDDDD"/>
              </a:solidFill>
              <a:prstDash val="solid"/>
              <a:miter/>
            </a:ln>
          </p:spPr>
        </p:sp>
      </p:grpSp>
      <p:grpSp>
        <p:nvGrpSpPr>
          <p:cNvPr name="Group 129" id="129"/>
          <p:cNvGrpSpPr/>
          <p:nvPr/>
        </p:nvGrpSpPr>
        <p:grpSpPr>
          <a:xfrm rot="0">
            <a:off x="13679424" y="5047488"/>
            <a:ext cx="2231136" cy="731520"/>
            <a:chOff x="0" y="0"/>
            <a:chExt cx="2974848" cy="975360"/>
          </a:xfrm>
        </p:grpSpPr>
        <p:sp>
          <p:nvSpPr>
            <p:cNvPr name="Freeform 130" id="130"/>
            <p:cNvSpPr/>
            <p:nvPr/>
          </p:nvSpPr>
          <p:spPr>
            <a:xfrm flipH="false" flipV="false" rot="0">
              <a:off x="0" y="0"/>
              <a:ext cx="2974848" cy="975360"/>
            </a:xfrm>
            <a:custGeom>
              <a:avLst/>
              <a:gdLst/>
              <a:ahLst/>
              <a:cxnLst/>
              <a:rect r="r" b="b" t="t" l="l"/>
              <a:pathLst>
                <a:path h="975360" w="2974848">
                  <a:moveTo>
                    <a:pt x="0" y="0"/>
                  </a:moveTo>
                  <a:lnTo>
                    <a:pt x="2974848" y="0"/>
                  </a:lnTo>
                  <a:lnTo>
                    <a:pt x="2974848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429" r="0" b="-9429"/>
              </a:stretch>
            </a:blipFill>
          </p:spPr>
        </p:sp>
        <p:sp>
          <p:nvSpPr>
            <p:cNvPr name="TextBox 131" id="131"/>
            <p:cNvSpPr txBox="true"/>
            <p:nvPr/>
          </p:nvSpPr>
          <p:spPr>
            <a:xfrm>
              <a:off x="0" y="-47625"/>
              <a:ext cx="2974848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2B2B2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0,55</a:t>
              </a:r>
            </a:p>
          </p:txBody>
        </p:sp>
      </p:grpSp>
      <p:grpSp>
        <p:nvGrpSpPr>
          <p:cNvPr name="Group 132" id="132"/>
          <p:cNvGrpSpPr/>
          <p:nvPr/>
        </p:nvGrpSpPr>
        <p:grpSpPr>
          <a:xfrm rot="0">
            <a:off x="914400" y="5888736"/>
            <a:ext cx="11887200" cy="402336"/>
            <a:chOff x="0" y="0"/>
            <a:chExt cx="15849600" cy="536448"/>
          </a:xfrm>
        </p:grpSpPr>
        <p:sp>
          <p:nvSpPr>
            <p:cNvPr name="Freeform 133" id="133"/>
            <p:cNvSpPr/>
            <p:nvPr/>
          </p:nvSpPr>
          <p:spPr>
            <a:xfrm flipH="false" flipV="false" rot="0">
              <a:off x="0" y="0"/>
              <a:ext cx="15849600" cy="536448"/>
            </a:xfrm>
            <a:custGeom>
              <a:avLst/>
              <a:gdLst/>
              <a:ahLst/>
              <a:cxnLst/>
              <a:rect r="r" b="b" t="t" l="l"/>
              <a:pathLst>
                <a:path h="536448" w="15849600">
                  <a:moveTo>
                    <a:pt x="0" y="0"/>
                  </a:moveTo>
                  <a:lnTo>
                    <a:pt x="15849600" y="0"/>
                  </a:lnTo>
                  <a:lnTo>
                    <a:pt x="158496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5694" r="0" b="-525694"/>
              </a:stretch>
            </a:blipFill>
          </p:spPr>
        </p:sp>
        <p:sp>
          <p:nvSpPr>
            <p:cNvPr name="TextBox 134" id="134"/>
            <p:cNvSpPr txBox="true"/>
            <p:nvPr/>
          </p:nvSpPr>
          <p:spPr>
            <a:xfrm>
              <a:off x="0" y="-38100"/>
              <a:ext cx="1584960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i="true">
                  <a:solidFill>
                    <a:srgbClr val="999999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Valeurs en vert = meilleur résultat sur ce critère</a:t>
              </a:r>
            </a:p>
          </p:txBody>
        </p:sp>
      </p:grpSp>
      <p:sp>
        <p:nvSpPr>
          <p:cNvPr name="Freeform 135" id="135"/>
          <p:cNvSpPr/>
          <p:nvPr/>
        </p:nvSpPr>
        <p:spPr>
          <a:xfrm flipH="false" flipV="false" rot="0">
            <a:off x="3197240" y="6291072"/>
            <a:ext cx="9805279" cy="3863232"/>
          </a:xfrm>
          <a:custGeom>
            <a:avLst/>
            <a:gdLst/>
            <a:ahLst/>
            <a:cxnLst/>
            <a:rect r="r" b="b" t="t" l="l"/>
            <a:pathLst>
              <a:path h="3863232" w="9805279">
                <a:moveTo>
                  <a:pt x="0" y="0"/>
                </a:moveTo>
                <a:lnTo>
                  <a:pt x="9805279" y="0"/>
                </a:lnTo>
                <a:lnTo>
                  <a:pt x="9805279" y="3863232"/>
                </a:lnTo>
                <a:lnTo>
                  <a:pt x="0" y="38632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428" r="-654" b="-483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01703" y="609095"/>
            <a:ext cx="135131" cy="427739"/>
            <a:chOff x="0" y="0"/>
            <a:chExt cx="180175" cy="5703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0213" cy="570357"/>
            </a:xfrm>
            <a:custGeom>
              <a:avLst/>
              <a:gdLst/>
              <a:ahLst/>
              <a:cxnLst/>
              <a:rect r="r" b="b" t="t" l="l"/>
              <a:pathLst>
                <a:path h="570357" w="180213">
                  <a:moveTo>
                    <a:pt x="0" y="0"/>
                  </a:moveTo>
                  <a:lnTo>
                    <a:pt x="180213" y="0"/>
                  </a:lnTo>
                  <a:lnTo>
                    <a:pt x="180213" y="570357"/>
                  </a:lnTo>
                  <a:lnTo>
                    <a:pt x="0" y="570357"/>
                  </a:lnTo>
                  <a:close/>
                </a:path>
              </a:pathLst>
            </a:custGeom>
            <a:solidFill>
              <a:srgbClr val="2D6A4F"/>
            </a:solidFill>
            <a:ln w="25400" cap="sq">
              <a:solidFill>
                <a:srgbClr val="2D6A4F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243584" y="548640"/>
            <a:ext cx="16093440" cy="548640"/>
            <a:chOff x="0" y="0"/>
            <a:chExt cx="21457920" cy="7315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457920" cy="731520"/>
            </a:xfrm>
            <a:custGeom>
              <a:avLst/>
              <a:gdLst/>
              <a:ahLst/>
              <a:cxnLst/>
              <a:rect r="r" b="b" t="t" l="l"/>
              <a:pathLst>
                <a:path h="73152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1561" r="0" b="-521561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14579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359">
                  <a:solidFill>
                    <a:srgbClr val="2D6A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05 · ÉVALUATION · CNN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" y="1243584"/>
            <a:ext cx="16459200" cy="1097280"/>
            <a:chOff x="0" y="0"/>
            <a:chExt cx="21945600" cy="14630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2194560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sz="5599" b="true">
                  <a:solidFill>
                    <a:srgbClr val="2B2B2B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Le CNN converge — mais sans avantage réel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01703" y="2584199"/>
            <a:ext cx="16484603" cy="43691"/>
            <a:chOff x="0" y="0"/>
            <a:chExt cx="21979471" cy="5825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979510" cy="58293"/>
            </a:xfrm>
            <a:custGeom>
              <a:avLst/>
              <a:gdLst/>
              <a:ahLst/>
              <a:cxnLst/>
              <a:rect r="r" b="b" t="t" l="l"/>
              <a:pathLst>
                <a:path h="58293" w="21979510">
                  <a:moveTo>
                    <a:pt x="0" y="0"/>
                  </a:moveTo>
                  <a:lnTo>
                    <a:pt x="21979510" y="0"/>
                  </a:lnTo>
                  <a:lnTo>
                    <a:pt x="21979510" y="58293"/>
                  </a:lnTo>
                  <a:lnTo>
                    <a:pt x="0" y="58293"/>
                  </a:lnTo>
                  <a:close/>
                </a:path>
              </a:pathLst>
            </a:custGeom>
            <a:solidFill>
              <a:srgbClr val="DDDDDD"/>
            </a:solidFill>
            <a:ln w="25400" cap="sq">
              <a:solidFill>
                <a:srgbClr val="DDDDDD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914400" y="2852928"/>
            <a:ext cx="11887200" cy="4937760"/>
            <a:chOff x="0" y="0"/>
            <a:chExt cx="15849600" cy="6583680"/>
          </a:xfrm>
        </p:grpSpPr>
        <p:sp>
          <p:nvSpPr>
            <p:cNvPr name="Freeform 13" id="13" descr="preencoded.png"/>
            <p:cNvSpPr/>
            <p:nvPr/>
          </p:nvSpPr>
          <p:spPr>
            <a:xfrm flipH="false" flipV="false" rot="0">
              <a:off x="0" y="0"/>
              <a:ext cx="15849600" cy="6583680"/>
            </a:xfrm>
            <a:custGeom>
              <a:avLst/>
              <a:gdLst/>
              <a:ahLst/>
              <a:cxnLst/>
              <a:rect r="r" b="b" t="t" l="l"/>
              <a:pathLst>
                <a:path h="6583680" w="15849600">
                  <a:moveTo>
                    <a:pt x="0" y="0"/>
                  </a:moveTo>
                  <a:lnTo>
                    <a:pt x="15849600" y="0"/>
                  </a:lnTo>
                  <a:lnTo>
                    <a:pt x="15849600" y="6583680"/>
                  </a:lnTo>
                  <a:lnTo>
                    <a:pt x="0" y="65836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-1018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3246103" y="2913383"/>
            <a:ext cx="116843" cy="3463547"/>
            <a:chOff x="0" y="0"/>
            <a:chExt cx="155791" cy="461806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55829" cy="4618101"/>
            </a:xfrm>
            <a:custGeom>
              <a:avLst/>
              <a:gdLst/>
              <a:ahLst/>
              <a:cxnLst/>
              <a:rect r="r" b="b" t="t" l="l"/>
              <a:pathLst>
                <a:path h="4618101" w="155829">
                  <a:moveTo>
                    <a:pt x="0" y="0"/>
                  </a:moveTo>
                  <a:lnTo>
                    <a:pt x="155829" y="0"/>
                  </a:lnTo>
                  <a:lnTo>
                    <a:pt x="155829" y="4618101"/>
                  </a:lnTo>
                  <a:lnTo>
                    <a:pt x="0" y="4618101"/>
                  </a:lnTo>
                  <a:close/>
                </a:path>
              </a:pathLst>
            </a:custGeom>
            <a:solidFill>
              <a:srgbClr val="2D6A4F"/>
            </a:solidFill>
            <a:ln w="25400" cap="sq">
              <a:solidFill>
                <a:srgbClr val="2D6A4F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13606272" y="3072384"/>
            <a:ext cx="4023360" cy="548640"/>
            <a:chOff x="0" y="0"/>
            <a:chExt cx="5364480" cy="7315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364480" cy="731520"/>
            </a:xfrm>
            <a:custGeom>
              <a:avLst/>
              <a:gdLst/>
              <a:ahLst/>
              <a:cxnLst/>
              <a:rect r="r" b="b" t="t" l="l"/>
              <a:pathLst>
                <a:path h="73152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2890" r="0" b="-9289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9525"/>
              <a:ext cx="536448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2B2B2B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Pas d'overfitting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3606272" y="3719703"/>
            <a:ext cx="4023360" cy="2278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555555"/>
                </a:solidFill>
                <a:latin typeface="Calibri (MS)"/>
                <a:ea typeface="Calibri (MS)"/>
                <a:cs typeface="Calibri (MS)"/>
                <a:sym typeface="Calibri (MS)"/>
              </a:rPr>
              <a:t>La val_loss converge</a:t>
            </a:r>
          </a:p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555555"/>
                </a:solidFill>
                <a:latin typeface="Calibri (MS)"/>
                <a:ea typeface="Calibri (MS)"/>
                <a:cs typeface="Calibri (MS)"/>
                <a:sym typeface="Calibri (MS)"/>
              </a:rPr>
              <a:t>stablement vers l'époque 15.</a:t>
            </a:r>
          </a:p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555555"/>
                </a:solidFill>
                <a:latin typeface="Calibri (MS)"/>
                <a:ea typeface="Calibri (MS)"/>
                <a:cs typeface="Calibri (MS)"/>
                <a:sym typeface="Calibri (MS)"/>
              </a:rPr>
              <a:t>Le modèle généralise.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3246103" y="6717287"/>
            <a:ext cx="116843" cy="3463547"/>
            <a:chOff x="0" y="0"/>
            <a:chExt cx="155791" cy="461806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55829" cy="4618101"/>
            </a:xfrm>
            <a:custGeom>
              <a:avLst/>
              <a:gdLst/>
              <a:ahLst/>
              <a:cxnLst/>
              <a:rect r="r" b="b" t="t" l="l"/>
              <a:pathLst>
                <a:path h="4618101" w="155829">
                  <a:moveTo>
                    <a:pt x="0" y="0"/>
                  </a:moveTo>
                  <a:lnTo>
                    <a:pt x="155829" y="0"/>
                  </a:lnTo>
                  <a:lnTo>
                    <a:pt x="155829" y="4618101"/>
                  </a:lnTo>
                  <a:lnTo>
                    <a:pt x="0" y="4618101"/>
                  </a:lnTo>
                  <a:close/>
                </a:path>
              </a:pathLst>
            </a:custGeom>
            <a:solidFill>
              <a:srgbClr val="B5451B"/>
            </a:solidFill>
            <a:ln w="25400" cap="sq">
              <a:solidFill>
                <a:srgbClr val="B5451B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13606272" y="6876288"/>
            <a:ext cx="4023360" cy="548640"/>
            <a:chOff x="0" y="0"/>
            <a:chExt cx="5364480" cy="73152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364480" cy="731520"/>
            </a:xfrm>
            <a:custGeom>
              <a:avLst/>
              <a:gdLst/>
              <a:ahLst/>
              <a:cxnLst/>
              <a:rect r="r" b="b" t="t" l="l"/>
              <a:pathLst>
                <a:path h="73152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2890" r="0" b="-9289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9525"/>
              <a:ext cx="536448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2B2B2B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AUC proche du hasard</a:t>
              </a: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13606272" y="7523607"/>
            <a:ext cx="4023360" cy="2278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555555"/>
                </a:solidFill>
                <a:latin typeface="Calibri (MS)"/>
                <a:ea typeface="Calibri (MS)"/>
                <a:cs typeface="Calibri (MS)"/>
                <a:sym typeface="Calibri (MS)"/>
              </a:rPr>
              <a:t>AUC = 0,55. Les CNN</a:t>
            </a:r>
          </a:p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555555"/>
                </a:solidFill>
                <a:latin typeface="Calibri (MS)"/>
                <a:ea typeface="Calibri (MS)"/>
                <a:cs typeface="Calibri (MS)"/>
                <a:sym typeface="Calibri (MS)"/>
              </a:rPr>
              <a:t>traitent des séquences —</a:t>
            </a:r>
          </a:p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555555"/>
                </a:solidFill>
                <a:latin typeface="Calibri (MS)"/>
                <a:ea typeface="Calibri (MS)"/>
                <a:cs typeface="Calibri (MS)"/>
                <a:sym typeface="Calibri (MS)"/>
              </a:rPr>
              <a:t>structure absente ici.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01703" y="609095"/>
            <a:ext cx="135131" cy="427739"/>
            <a:chOff x="0" y="0"/>
            <a:chExt cx="180175" cy="5703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0213" cy="570357"/>
            </a:xfrm>
            <a:custGeom>
              <a:avLst/>
              <a:gdLst/>
              <a:ahLst/>
              <a:cxnLst/>
              <a:rect r="r" b="b" t="t" l="l"/>
              <a:pathLst>
                <a:path h="570357" w="180213">
                  <a:moveTo>
                    <a:pt x="0" y="0"/>
                  </a:moveTo>
                  <a:lnTo>
                    <a:pt x="180213" y="0"/>
                  </a:lnTo>
                  <a:lnTo>
                    <a:pt x="180213" y="570357"/>
                  </a:lnTo>
                  <a:lnTo>
                    <a:pt x="0" y="570357"/>
                  </a:lnTo>
                  <a:close/>
                </a:path>
              </a:pathLst>
            </a:custGeom>
            <a:solidFill>
              <a:srgbClr val="2D6A4F"/>
            </a:solidFill>
            <a:ln w="25400" cap="sq">
              <a:solidFill>
                <a:srgbClr val="2D6A4F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243584" y="548640"/>
            <a:ext cx="16093440" cy="548640"/>
            <a:chOff x="0" y="0"/>
            <a:chExt cx="21457920" cy="7315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457920" cy="731520"/>
            </a:xfrm>
            <a:custGeom>
              <a:avLst/>
              <a:gdLst/>
              <a:ahLst/>
              <a:cxnLst/>
              <a:rect r="r" b="b" t="t" l="l"/>
              <a:pathLst>
                <a:path h="73152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1561" r="0" b="-521561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14579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359">
                  <a:solidFill>
                    <a:srgbClr val="2D6A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06 · BILAN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" y="1243584"/>
            <a:ext cx="16459200" cy="1097280"/>
            <a:chOff x="0" y="0"/>
            <a:chExt cx="21945600" cy="14630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2194560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sz="5599" b="true">
                  <a:solidFill>
                    <a:srgbClr val="2B2B2B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Ce qui a marché — ce qui n'a pas marché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01703" y="2584199"/>
            <a:ext cx="16484603" cy="43691"/>
            <a:chOff x="0" y="0"/>
            <a:chExt cx="21979471" cy="5825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979510" cy="58293"/>
            </a:xfrm>
            <a:custGeom>
              <a:avLst/>
              <a:gdLst/>
              <a:ahLst/>
              <a:cxnLst/>
              <a:rect r="r" b="b" t="t" l="l"/>
              <a:pathLst>
                <a:path h="58293" w="21979510">
                  <a:moveTo>
                    <a:pt x="0" y="0"/>
                  </a:moveTo>
                  <a:lnTo>
                    <a:pt x="21979510" y="0"/>
                  </a:lnTo>
                  <a:lnTo>
                    <a:pt x="21979510" y="58293"/>
                  </a:lnTo>
                  <a:lnTo>
                    <a:pt x="0" y="58293"/>
                  </a:lnTo>
                  <a:close/>
                </a:path>
              </a:pathLst>
            </a:custGeom>
            <a:solidFill>
              <a:srgbClr val="DDDDDD"/>
            </a:solidFill>
            <a:ln w="25400" cap="sq">
              <a:solidFill>
                <a:srgbClr val="DDDDDD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914400" y="2852928"/>
            <a:ext cx="7680960" cy="548640"/>
            <a:chOff x="0" y="0"/>
            <a:chExt cx="10241280" cy="7315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241280" cy="731520"/>
            </a:xfrm>
            <a:custGeom>
              <a:avLst/>
              <a:gdLst/>
              <a:ahLst/>
              <a:cxnLst/>
              <a:rect r="r" b="b" t="t" l="l"/>
              <a:pathLst>
                <a:path h="73152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2790" r="0" b="-22279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1024128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2D6A4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Ce qui a bien fonctionné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326880" y="2852928"/>
            <a:ext cx="8046720" cy="548640"/>
            <a:chOff x="0" y="0"/>
            <a:chExt cx="10728960" cy="7315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728960" cy="731520"/>
            </a:xfrm>
            <a:custGeom>
              <a:avLst/>
              <a:gdLst/>
              <a:ahLst/>
              <a:cxnLst/>
              <a:rect r="r" b="b" t="t" l="l"/>
              <a:pathLst>
                <a:path h="73152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5780" r="0" b="-23578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1072896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B5451B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Ce qui n'a pas fonctionné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01703" y="3498599"/>
            <a:ext cx="16484603" cy="43691"/>
            <a:chOff x="0" y="0"/>
            <a:chExt cx="21979471" cy="5825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979510" cy="58293"/>
            </a:xfrm>
            <a:custGeom>
              <a:avLst/>
              <a:gdLst/>
              <a:ahLst/>
              <a:cxnLst/>
              <a:rect r="r" b="b" t="t" l="l"/>
              <a:pathLst>
                <a:path h="58293" w="21979510">
                  <a:moveTo>
                    <a:pt x="0" y="0"/>
                  </a:moveTo>
                  <a:lnTo>
                    <a:pt x="21979510" y="0"/>
                  </a:lnTo>
                  <a:lnTo>
                    <a:pt x="21979510" y="58293"/>
                  </a:lnTo>
                  <a:lnTo>
                    <a:pt x="0" y="58293"/>
                  </a:lnTo>
                  <a:close/>
                </a:path>
              </a:pathLst>
            </a:custGeom>
            <a:solidFill>
              <a:srgbClr val="DDDDDD"/>
            </a:solidFill>
            <a:ln w="25400" cap="sq">
              <a:solidFill>
                <a:srgbClr val="DDDDDD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901703" y="3919223"/>
            <a:ext cx="171707" cy="171707"/>
            <a:chOff x="0" y="0"/>
            <a:chExt cx="228943" cy="22894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28981" cy="228981"/>
            </a:xfrm>
            <a:custGeom>
              <a:avLst/>
              <a:gdLst/>
              <a:ahLst/>
              <a:cxnLst/>
              <a:rect r="r" b="b" t="t" l="l"/>
              <a:pathLst>
                <a:path h="228981" w="228981">
                  <a:moveTo>
                    <a:pt x="0" y="0"/>
                  </a:moveTo>
                  <a:lnTo>
                    <a:pt x="228981" y="0"/>
                  </a:lnTo>
                  <a:lnTo>
                    <a:pt x="228981" y="228981"/>
                  </a:lnTo>
                  <a:lnTo>
                    <a:pt x="0" y="228981"/>
                  </a:lnTo>
                  <a:close/>
                </a:path>
              </a:pathLst>
            </a:custGeom>
            <a:solidFill>
              <a:srgbClr val="2D6A4F"/>
            </a:solidFill>
            <a:ln w="25400" cap="sq">
              <a:solidFill>
                <a:srgbClr val="2D6A4F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1243584" y="3730752"/>
            <a:ext cx="7388352" cy="585216"/>
            <a:chOff x="0" y="0"/>
            <a:chExt cx="9851136" cy="78028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851136" cy="780288"/>
            </a:xfrm>
            <a:custGeom>
              <a:avLst/>
              <a:gdLst/>
              <a:ahLst/>
              <a:cxnLst/>
              <a:rect r="r" b="b" t="t" l="l"/>
              <a:pathLst>
                <a:path h="780288" w="9851136">
                  <a:moveTo>
                    <a:pt x="0" y="0"/>
                  </a:moveTo>
                  <a:lnTo>
                    <a:pt x="9851136" y="0"/>
                  </a:lnTo>
                  <a:lnTo>
                    <a:pt x="9851136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5998" r="0" b="-195998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9851136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5555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SMOTE : recall amélioré de ~15 % à 41 %</a:t>
              </a:r>
            </a:p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5555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sur la Régression Logistique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01703" y="5309111"/>
            <a:ext cx="171707" cy="171707"/>
            <a:chOff x="0" y="0"/>
            <a:chExt cx="228943" cy="228943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28981" cy="228981"/>
            </a:xfrm>
            <a:custGeom>
              <a:avLst/>
              <a:gdLst/>
              <a:ahLst/>
              <a:cxnLst/>
              <a:rect r="r" b="b" t="t" l="l"/>
              <a:pathLst>
                <a:path h="228981" w="228981">
                  <a:moveTo>
                    <a:pt x="0" y="0"/>
                  </a:moveTo>
                  <a:lnTo>
                    <a:pt x="228981" y="0"/>
                  </a:lnTo>
                  <a:lnTo>
                    <a:pt x="228981" y="228981"/>
                  </a:lnTo>
                  <a:lnTo>
                    <a:pt x="0" y="228981"/>
                  </a:lnTo>
                  <a:close/>
                </a:path>
              </a:pathLst>
            </a:custGeom>
            <a:solidFill>
              <a:srgbClr val="2D6A4F"/>
            </a:solidFill>
            <a:ln w="25400" cap="sq">
              <a:solidFill>
                <a:srgbClr val="2D6A4F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1243584" y="5120640"/>
            <a:ext cx="7388352" cy="585216"/>
            <a:chOff x="0" y="0"/>
            <a:chExt cx="9851136" cy="78028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9851136" cy="780288"/>
            </a:xfrm>
            <a:custGeom>
              <a:avLst/>
              <a:gdLst/>
              <a:ahLst/>
              <a:cxnLst/>
              <a:rect r="r" b="b" t="t" l="l"/>
              <a:pathLst>
                <a:path h="780288" w="9851136">
                  <a:moveTo>
                    <a:pt x="0" y="0"/>
                  </a:moveTo>
                  <a:lnTo>
                    <a:pt x="9851136" y="0"/>
                  </a:lnTo>
                  <a:lnTo>
                    <a:pt x="9851136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5998" r="0" b="-195998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9851136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5555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class_weight='balanced' efficace</a:t>
              </a:r>
            </a:p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5555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à coût quasi nul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901703" y="6698999"/>
            <a:ext cx="171707" cy="171707"/>
            <a:chOff x="0" y="0"/>
            <a:chExt cx="228943" cy="228943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28981" cy="228981"/>
            </a:xfrm>
            <a:custGeom>
              <a:avLst/>
              <a:gdLst/>
              <a:ahLst/>
              <a:cxnLst/>
              <a:rect r="r" b="b" t="t" l="l"/>
              <a:pathLst>
                <a:path h="228981" w="228981">
                  <a:moveTo>
                    <a:pt x="0" y="0"/>
                  </a:moveTo>
                  <a:lnTo>
                    <a:pt x="228981" y="0"/>
                  </a:lnTo>
                  <a:lnTo>
                    <a:pt x="228981" y="228981"/>
                  </a:lnTo>
                  <a:lnTo>
                    <a:pt x="0" y="228981"/>
                  </a:lnTo>
                  <a:close/>
                </a:path>
              </a:pathLst>
            </a:custGeom>
            <a:solidFill>
              <a:srgbClr val="2D6A4F"/>
            </a:solidFill>
            <a:ln w="25400" cap="sq">
              <a:solidFill>
                <a:srgbClr val="2D6A4F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1243584" y="6510528"/>
            <a:ext cx="7388352" cy="585216"/>
            <a:chOff x="0" y="0"/>
            <a:chExt cx="9851136" cy="780288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9851136" cy="780288"/>
            </a:xfrm>
            <a:custGeom>
              <a:avLst/>
              <a:gdLst/>
              <a:ahLst/>
              <a:cxnLst/>
              <a:rect r="r" b="b" t="t" l="l"/>
              <a:pathLst>
                <a:path h="780288" w="9851136">
                  <a:moveTo>
                    <a:pt x="0" y="0"/>
                  </a:moveTo>
                  <a:lnTo>
                    <a:pt x="9851136" y="0"/>
                  </a:lnTo>
                  <a:lnTo>
                    <a:pt x="9851136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5998" r="0" b="-195998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9851136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5555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Random Forest : meilleure AUC (0,64)</a:t>
              </a:r>
            </a:p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5555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et feature importance exploitable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901703" y="8088887"/>
            <a:ext cx="171707" cy="171707"/>
            <a:chOff x="0" y="0"/>
            <a:chExt cx="228943" cy="228943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28981" cy="228981"/>
            </a:xfrm>
            <a:custGeom>
              <a:avLst/>
              <a:gdLst/>
              <a:ahLst/>
              <a:cxnLst/>
              <a:rect r="r" b="b" t="t" l="l"/>
              <a:pathLst>
                <a:path h="228981" w="228981">
                  <a:moveTo>
                    <a:pt x="0" y="0"/>
                  </a:moveTo>
                  <a:lnTo>
                    <a:pt x="228981" y="0"/>
                  </a:lnTo>
                  <a:lnTo>
                    <a:pt x="228981" y="228981"/>
                  </a:lnTo>
                  <a:lnTo>
                    <a:pt x="0" y="228981"/>
                  </a:lnTo>
                  <a:close/>
                </a:path>
              </a:pathLst>
            </a:custGeom>
            <a:solidFill>
              <a:srgbClr val="2D6A4F"/>
            </a:solidFill>
            <a:ln w="25400" cap="sq">
              <a:solidFill>
                <a:srgbClr val="2D6A4F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1243584" y="7900416"/>
            <a:ext cx="7388352" cy="585216"/>
            <a:chOff x="0" y="0"/>
            <a:chExt cx="9851136" cy="780288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9851136" cy="780288"/>
            </a:xfrm>
            <a:custGeom>
              <a:avLst/>
              <a:gdLst/>
              <a:ahLst/>
              <a:cxnLst/>
              <a:rect r="r" b="b" t="t" l="l"/>
              <a:pathLst>
                <a:path h="780288" w="9851136">
                  <a:moveTo>
                    <a:pt x="0" y="0"/>
                  </a:moveTo>
                  <a:lnTo>
                    <a:pt x="9851136" y="0"/>
                  </a:lnTo>
                  <a:lnTo>
                    <a:pt x="9851136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5998" r="0" b="-195998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9851136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5555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Pipeline reproductible — aucun</a:t>
              </a:r>
            </a:p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5555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data leakage détecté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8948423" y="2840231"/>
            <a:ext cx="43691" cy="6060443"/>
            <a:chOff x="0" y="0"/>
            <a:chExt cx="58255" cy="8080591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58293" cy="8080629"/>
            </a:xfrm>
            <a:custGeom>
              <a:avLst/>
              <a:gdLst/>
              <a:ahLst/>
              <a:cxnLst/>
              <a:rect r="r" b="b" t="t" l="l"/>
              <a:pathLst>
                <a:path h="8080629" w="58293">
                  <a:moveTo>
                    <a:pt x="0" y="0"/>
                  </a:moveTo>
                  <a:lnTo>
                    <a:pt x="58293" y="0"/>
                  </a:lnTo>
                  <a:lnTo>
                    <a:pt x="58293" y="8080629"/>
                  </a:lnTo>
                  <a:lnTo>
                    <a:pt x="0" y="8080629"/>
                  </a:lnTo>
                  <a:close/>
                </a:path>
              </a:pathLst>
            </a:custGeom>
            <a:solidFill>
              <a:srgbClr val="DDDDDD"/>
            </a:solidFill>
            <a:ln w="25400" cap="sq">
              <a:solidFill>
                <a:srgbClr val="DDDDDD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9314183" y="3919223"/>
            <a:ext cx="171707" cy="171707"/>
            <a:chOff x="0" y="0"/>
            <a:chExt cx="228943" cy="228943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28981" cy="228981"/>
            </a:xfrm>
            <a:custGeom>
              <a:avLst/>
              <a:gdLst/>
              <a:ahLst/>
              <a:cxnLst/>
              <a:rect r="r" b="b" t="t" l="l"/>
              <a:pathLst>
                <a:path h="228981" w="228981">
                  <a:moveTo>
                    <a:pt x="0" y="0"/>
                  </a:moveTo>
                  <a:lnTo>
                    <a:pt x="228981" y="0"/>
                  </a:lnTo>
                  <a:lnTo>
                    <a:pt x="228981" y="228981"/>
                  </a:lnTo>
                  <a:lnTo>
                    <a:pt x="0" y="228981"/>
                  </a:lnTo>
                  <a:close/>
                </a:path>
              </a:pathLst>
            </a:custGeom>
            <a:solidFill>
              <a:srgbClr val="B5451B"/>
            </a:solidFill>
            <a:ln w="25400" cap="sq">
              <a:solidFill>
                <a:srgbClr val="B5451B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9656064" y="3730752"/>
            <a:ext cx="7717536" cy="585216"/>
            <a:chOff x="0" y="0"/>
            <a:chExt cx="10290048" cy="780288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0290048" cy="780288"/>
            </a:xfrm>
            <a:custGeom>
              <a:avLst/>
              <a:gdLst/>
              <a:ahLst/>
              <a:cxnLst/>
              <a:rect r="r" b="b" t="t" l="l"/>
              <a:pathLst>
                <a:path h="780288" w="10290048">
                  <a:moveTo>
                    <a:pt x="0" y="0"/>
                  </a:moveTo>
                  <a:lnTo>
                    <a:pt x="10290048" y="0"/>
                  </a:lnTo>
                  <a:lnTo>
                    <a:pt x="10290048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6958" r="0" b="-206958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10290048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5555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CNN peu adapté aux données</a:t>
              </a:r>
            </a:p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5555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tabulaires (AUC = 0,55)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9314183" y="5309111"/>
            <a:ext cx="171707" cy="171707"/>
            <a:chOff x="0" y="0"/>
            <a:chExt cx="228943" cy="228943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228981" cy="228981"/>
            </a:xfrm>
            <a:custGeom>
              <a:avLst/>
              <a:gdLst/>
              <a:ahLst/>
              <a:cxnLst/>
              <a:rect r="r" b="b" t="t" l="l"/>
              <a:pathLst>
                <a:path h="228981" w="228981">
                  <a:moveTo>
                    <a:pt x="0" y="0"/>
                  </a:moveTo>
                  <a:lnTo>
                    <a:pt x="228981" y="0"/>
                  </a:lnTo>
                  <a:lnTo>
                    <a:pt x="228981" y="228981"/>
                  </a:lnTo>
                  <a:lnTo>
                    <a:pt x="0" y="228981"/>
                  </a:lnTo>
                  <a:close/>
                </a:path>
              </a:pathLst>
            </a:custGeom>
            <a:solidFill>
              <a:srgbClr val="B5451B"/>
            </a:solidFill>
            <a:ln w="25400" cap="sq">
              <a:solidFill>
                <a:srgbClr val="B5451B"/>
              </a:solidFill>
              <a:prstDash val="solid"/>
              <a:miter/>
            </a:ln>
          </p:spPr>
        </p:sp>
      </p:grpSp>
      <p:grpSp>
        <p:nvGrpSpPr>
          <p:cNvPr name="Group 49" id="49"/>
          <p:cNvGrpSpPr/>
          <p:nvPr/>
        </p:nvGrpSpPr>
        <p:grpSpPr>
          <a:xfrm rot="0">
            <a:off x="9656064" y="5120640"/>
            <a:ext cx="7717536" cy="585216"/>
            <a:chOff x="0" y="0"/>
            <a:chExt cx="10290048" cy="780288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0290048" cy="780288"/>
            </a:xfrm>
            <a:custGeom>
              <a:avLst/>
              <a:gdLst/>
              <a:ahLst/>
              <a:cxnLst/>
              <a:rect r="r" b="b" t="t" l="l"/>
              <a:pathLst>
                <a:path h="780288" w="10290048">
                  <a:moveTo>
                    <a:pt x="0" y="0"/>
                  </a:moveTo>
                  <a:lnTo>
                    <a:pt x="10290048" y="0"/>
                  </a:lnTo>
                  <a:lnTo>
                    <a:pt x="10290048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6958" r="0" b="-206958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10290048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5555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Précision classe 1 faible (8-13 %)</a:t>
              </a:r>
            </a:p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5555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malgré le SMOTE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9314183" y="6698999"/>
            <a:ext cx="171707" cy="171707"/>
            <a:chOff x="0" y="0"/>
            <a:chExt cx="228943" cy="228943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228981" cy="228981"/>
            </a:xfrm>
            <a:custGeom>
              <a:avLst/>
              <a:gdLst/>
              <a:ahLst/>
              <a:cxnLst/>
              <a:rect r="r" b="b" t="t" l="l"/>
              <a:pathLst>
                <a:path h="228981" w="228981">
                  <a:moveTo>
                    <a:pt x="0" y="0"/>
                  </a:moveTo>
                  <a:lnTo>
                    <a:pt x="228981" y="0"/>
                  </a:lnTo>
                  <a:lnTo>
                    <a:pt x="228981" y="228981"/>
                  </a:lnTo>
                  <a:lnTo>
                    <a:pt x="0" y="228981"/>
                  </a:lnTo>
                  <a:close/>
                </a:path>
              </a:pathLst>
            </a:custGeom>
            <a:solidFill>
              <a:srgbClr val="B5451B"/>
            </a:solidFill>
            <a:ln w="25400" cap="sq">
              <a:solidFill>
                <a:srgbClr val="B5451B"/>
              </a:solidFill>
              <a:prstDash val="solid"/>
              <a:miter/>
            </a:ln>
          </p:spPr>
        </p:sp>
      </p:grpSp>
      <p:grpSp>
        <p:nvGrpSpPr>
          <p:cNvPr name="Group 54" id="54"/>
          <p:cNvGrpSpPr/>
          <p:nvPr/>
        </p:nvGrpSpPr>
        <p:grpSpPr>
          <a:xfrm rot="0">
            <a:off x="9656064" y="6510528"/>
            <a:ext cx="7717536" cy="585216"/>
            <a:chOff x="0" y="0"/>
            <a:chExt cx="10290048" cy="780288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0290048" cy="780288"/>
            </a:xfrm>
            <a:custGeom>
              <a:avLst/>
              <a:gdLst/>
              <a:ahLst/>
              <a:cxnLst/>
              <a:rect r="r" b="b" t="t" l="l"/>
              <a:pathLst>
                <a:path h="780288" w="10290048">
                  <a:moveTo>
                    <a:pt x="0" y="0"/>
                  </a:moveTo>
                  <a:lnTo>
                    <a:pt x="10290048" y="0"/>
                  </a:lnTo>
                  <a:lnTo>
                    <a:pt x="10290048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6958" r="0" b="-206958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38100"/>
              <a:ext cx="10290048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5555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Absence d'optimisation</a:t>
              </a:r>
            </a:p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5555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systématique des hyperparamètres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9314183" y="8088887"/>
            <a:ext cx="171707" cy="171707"/>
            <a:chOff x="0" y="0"/>
            <a:chExt cx="228943" cy="228943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228981" cy="228981"/>
            </a:xfrm>
            <a:custGeom>
              <a:avLst/>
              <a:gdLst/>
              <a:ahLst/>
              <a:cxnLst/>
              <a:rect r="r" b="b" t="t" l="l"/>
              <a:pathLst>
                <a:path h="228981" w="228981">
                  <a:moveTo>
                    <a:pt x="0" y="0"/>
                  </a:moveTo>
                  <a:lnTo>
                    <a:pt x="228981" y="0"/>
                  </a:lnTo>
                  <a:lnTo>
                    <a:pt x="228981" y="228981"/>
                  </a:lnTo>
                  <a:lnTo>
                    <a:pt x="0" y="228981"/>
                  </a:lnTo>
                  <a:close/>
                </a:path>
              </a:pathLst>
            </a:custGeom>
            <a:solidFill>
              <a:srgbClr val="B5451B"/>
            </a:solidFill>
            <a:ln w="25400" cap="sq">
              <a:solidFill>
                <a:srgbClr val="B5451B"/>
              </a:solidFill>
              <a:prstDash val="solid"/>
              <a:miter/>
            </a:ln>
          </p:spPr>
        </p:sp>
      </p:grpSp>
      <p:grpSp>
        <p:nvGrpSpPr>
          <p:cNvPr name="Group 59" id="59"/>
          <p:cNvGrpSpPr/>
          <p:nvPr/>
        </p:nvGrpSpPr>
        <p:grpSpPr>
          <a:xfrm rot="0">
            <a:off x="9656064" y="7900416"/>
            <a:ext cx="7717536" cy="585216"/>
            <a:chOff x="0" y="0"/>
            <a:chExt cx="10290048" cy="780288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0290048" cy="780288"/>
            </a:xfrm>
            <a:custGeom>
              <a:avLst/>
              <a:gdLst/>
              <a:ahLst/>
              <a:cxnLst/>
              <a:rect r="r" b="b" t="t" l="l"/>
              <a:pathLst>
                <a:path h="780288" w="10290048">
                  <a:moveTo>
                    <a:pt x="0" y="0"/>
                  </a:moveTo>
                  <a:lnTo>
                    <a:pt x="10290048" y="0"/>
                  </a:lnTo>
                  <a:lnTo>
                    <a:pt x="10290048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6958" r="0" b="-206958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38100"/>
              <a:ext cx="10290048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5555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Dataset simulé — à valider</a:t>
              </a:r>
            </a:p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5555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sur les 41 k instances UCI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901703" y="9241031"/>
            <a:ext cx="16484603" cy="43691"/>
            <a:chOff x="0" y="0"/>
            <a:chExt cx="21979471" cy="58255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21979510" cy="58293"/>
            </a:xfrm>
            <a:custGeom>
              <a:avLst/>
              <a:gdLst/>
              <a:ahLst/>
              <a:cxnLst/>
              <a:rect r="r" b="b" t="t" l="l"/>
              <a:pathLst>
                <a:path h="58293" w="21979510">
                  <a:moveTo>
                    <a:pt x="0" y="0"/>
                  </a:moveTo>
                  <a:lnTo>
                    <a:pt x="21979510" y="0"/>
                  </a:lnTo>
                  <a:lnTo>
                    <a:pt x="21979510" y="58293"/>
                  </a:lnTo>
                  <a:lnTo>
                    <a:pt x="0" y="58293"/>
                  </a:lnTo>
                  <a:close/>
                </a:path>
              </a:pathLst>
            </a:custGeom>
            <a:solidFill>
              <a:srgbClr val="DDDDDD"/>
            </a:solidFill>
            <a:ln w="25400" cap="sq">
              <a:solidFill>
                <a:srgbClr val="DDDDDD"/>
              </a:solidFill>
              <a:prstDash val="solid"/>
              <a:miter/>
            </a:ln>
          </p:spPr>
        </p:sp>
      </p:grpSp>
      <p:grpSp>
        <p:nvGrpSpPr>
          <p:cNvPr name="Group 64" id="64"/>
          <p:cNvGrpSpPr/>
          <p:nvPr/>
        </p:nvGrpSpPr>
        <p:grpSpPr>
          <a:xfrm rot="0">
            <a:off x="914400" y="9473184"/>
            <a:ext cx="16459200" cy="512064"/>
            <a:chOff x="0" y="0"/>
            <a:chExt cx="21945600" cy="682752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21945600" cy="682752"/>
            </a:xfrm>
            <a:custGeom>
              <a:avLst/>
              <a:gdLst/>
              <a:ahLst/>
              <a:cxnLst/>
              <a:rect r="r" b="b" t="t" l="l"/>
              <a:pathLst>
                <a:path h="682752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6304" r="0" b="-576304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47625"/>
              <a:ext cx="2194560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i="true">
                  <a:solidFill>
                    <a:srgbClr val="555555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Pistes d'amélioration  →  XGBoost  ·  LightGBM  ·  Threshold tuning  ·  SHAP values  ·  GridSearchCV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42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05840" y="768096"/>
            <a:ext cx="16276320" cy="1243584"/>
            <a:chOff x="0" y="0"/>
            <a:chExt cx="21701760" cy="165811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701761" cy="1658112"/>
            </a:xfrm>
            <a:custGeom>
              <a:avLst/>
              <a:gdLst/>
              <a:ahLst/>
              <a:cxnLst/>
              <a:rect r="r" b="b" t="t" l="l"/>
              <a:pathLst>
                <a:path h="1658112" w="21701761">
                  <a:moveTo>
                    <a:pt x="0" y="0"/>
                  </a:moveTo>
                  <a:lnTo>
                    <a:pt x="21701761" y="0"/>
                  </a:lnTo>
                  <a:lnTo>
                    <a:pt x="21701761" y="1658112"/>
                  </a:lnTo>
                  <a:lnTo>
                    <a:pt x="0" y="16581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5024" r="0" b="-205024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1701760" cy="16676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680"/>
                </a:lnSpc>
              </a:pPr>
              <a:r>
                <a:rPr lang="en-US" sz="64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Conclusion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93143" y="2218439"/>
            <a:ext cx="16301723" cy="43691"/>
            <a:chOff x="0" y="0"/>
            <a:chExt cx="21735631" cy="5825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735669" cy="58293"/>
            </a:xfrm>
            <a:custGeom>
              <a:avLst/>
              <a:gdLst/>
              <a:ahLst/>
              <a:cxnLst/>
              <a:rect r="r" b="b" t="t" l="l"/>
              <a:pathLst>
                <a:path h="58293" w="21735669">
                  <a:moveTo>
                    <a:pt x="0" y="0"/>
                  </a:moveTo>
                  <a:lnTo>
                    <a:pt x="21735669" y="0"/>
                  </a:lnTo>
                  <a:lnTo>
                    <a:pt x="21735669" y="58293"/>
                  </a:lnTo>
                  <a:lnTo>
                    <a:pt x="0" y="58293"/>
                  </a:lnTo>
                  <a:close/>
                </a:path>
              </a:pathLst>
            </a:custGeom>
            <a:solidFill>
              <a:srgbClr val="DDDDDD"/>
            </a:solidFill>
            <a:ln w="25400" cap="sq">
              <a:solidFill>
                <a:srgbClr val="DDDDDD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993143" y="2547623"/>
            <a:ext cx="5328923" cy="98555"/>
            <a:chOff x="0" y="0"/>
            <a:chExt cx="7105231" cy="13140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105269" cy="131445"/>
            </a:xfrm>
            <a:custGeom>
              <a:avLst/>
              <a:gdLst/>
              <a:ahLst/>
              <a:cxnLst/>
              <a:rect r="r" b="b" t="t" l="l"/>
              <a:pathLst>
                <a:path h="131445" w="7105269">
                  <a:moveTo>
                    <a:pt x="0" y="0"/>
                  </a:moveTo>
                  <a:lnTo>
                    <a:pt x="7105269" y="0"/>
                  </a:lnTo>
                  <a:lnTo>
                    <a:pt x="7105269" y="131445"/>
                  </a:lnTo>
                  <a:lnTo>
                    <a:pt x="0" y="131445"/>
                  </a:lnTo>
                  <a:close/>
                </a:path>
              </a:pathLst>
            </a:custGeom>
            <a:solidFill>
              <a:srgbClr val="74C69D"/>
            </a:solidFill>
            <a:ln w="25400" cap="sq">
              <a:solidFill>
                <a:srgbClr val="74C69D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005840" y="2852928"/>
            <a:ext cx="5303520" cy="621792"/>
            <a:chOff x="0" y="0"/>
            <a:chExt cx="7071360" cy="82905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071360" cy="829056"/>
            </a:xfrm>
            <a:custGeom>
              <a:avLst/>
              <a:gdLst/>
              <a:ahLst/>
              <a:cxnLst/>
              <a:rect r="r" b="b" t="t" l="l"/>
              <a:pathLst>
                <a:path h="829056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195" r="0" b="-116195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7071360" cy="8481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Régression Logistique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05840" y="3584448"/>
            <a:ext cx="5303520" cy="768096"/>
            <a:chOff x="0" y="0"/>
            <a:chExt cx="7071360" cy="102412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071360" cy="1024128"/>
            </a:xfrm>
            <a:custGeom>
              <a:avLst/>
              <a:gdLst/>
              <a:ahLst/>
              <a:cxnLst/>
              <a:rect r="r" b="b" t="t" l="l"/>
              <a:pathLst>
                <a:path h="1024128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539" r="0" b="-84539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7071360" cy="10336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sz="4000" b="true">
                  <a:solidFill>
                    <a:srgbClr val="74C69D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Recall  41,6 %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005840" y="4451223"/>
            <a:ext cx="5303520" cy="1144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AAAAAA"/>
                </a:solidFill>
                <a:latin typeface="Calibri (MS)"/>
                <a:ea typeface="Calibri (MS)"/>
                <a:cs typeface="Calibri (MS)"/>
                <a:sym typeface="Calibri (MS)"/>
              </a:rPr>
              <a:t>Recommandé pour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AAAAAA"/>
                </a:solidFill>
                <a:latin typeface="Calibri (MS)"/>
                <a:ea typeface="Calibri (MS)"/>
                <a:cs typeface="Calibri (MS)"/>
                <a:sym typeface="Calibri (MS)"/>
              </a:rPr>
              <a:t>la détection de prospects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6662423" y="2547623"/>
            <a:ext cx="5328923" cy="98555"/>
            <a:chOff x="0" y="0"/>
            <a:chExt cx="7105231" cy="13140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105269" cy="131445"/>
            </a:xfrm>
            <a:custGeom>
              <a:avLst/>
              <a:gdLst/>
              <a:ahLst/>
              <a:cxnLst/>
              <a:rect r="r" b="b" t="t" l="l"/>
              <a:pathLst>
                <a:path h="131445" w="7105269">
                  <a:moveTo>
                    <a:pt x="0" y="0"/>
                  </a:moveTo>
                  <a:lnTo>
                    <a:pt x="7105269" y="0"/>
                  </a:lnTo>
                  <a:lnTo>
                    <a:pt x="7105269" y="131445"/>
                  </a:lnTo>
                  <a:lnTo>
                    <a:pt x="0" y="131445"/>
                  </a:lnTo>
                  <a:close/>
                </a:path>
              </a:pathLst>
            </a:custGeom>
            <a:solidFill>
              <a:srgbClr val="74C69D"/>
            </a:solidFill>
            <a:ln w="25400" cap="sq">
              <a:solidFill>
                <a:srgbClr val="74C69D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6675120" y="2852928"/>
            <a:ext cx="5303520" cy="621792"/>
            <a:chOff x="0" y="0"/>
            <a:chExt cx="7071360" cy="82905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071360" cy="829056"/>
            </a:xfrm>
            <a:custGeom>
              <a:avLst/>
              <a:gdLst/>
              <a:ahLst/>
              <a:cxnLst/>
              <a:rect r="r" b="b" t="t" l="l"/>
              <a:pathLst>
                <a:path h="829056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195" r="0" b="-116195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7071360" cy="8481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Random Forest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6675120" y="3584448"/>
            <a:ext cx="5303520" cy="768096"/>
            <a:chOff x="0" y="0"/>
            <a:chExt cx="7071360" cy="102412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071360" cy="1024128"/>
            </a:xfrm>
            <a:custGeom>
              <a:avLst/>
              <a:gdLst/>
              <a:ahLst/>
              <a:cxnLst/>
              <a:rect r="r" b="b" t="t" l="l"/>
              <a:pathLst>
                <a:path h="1024128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539" r="0" b="-84539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9525"/>
              <a:ext cx="7071360" cy="10336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sz="4000" b="true">
                  <a:solidFill>
                    <a:srgbClr val="74C69D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AUC  0,640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6675120" y="4451223"/>
            <a:ext cx="5303520" cy="1144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AAAAAA"/>
                </a:solidFill>
                <a:latin typeface="Calibri (MS)"/>
                <a:ea typeface="Calibri (MS)"/>
                <a:cs typeface="Calibri (MS)"/>
                <a:sym typeface="Calibri (MS)"/>
              </a:rPr>
              <a:t>Recommandé pour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AAAAAA"/>
                </a:solidFill>
                <a:latin typeface="Calibri (MS)"/>
                <a:ea typeface="Calibri (MS)"/>
                <a:cs typeface="Calibri (MS)"/>
                <a:sym typeface="Calibri (MS)"/>
              </a:rPr>
              <a:t>le scoring et la segmentation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2331703" y="2547623"/>
            <a:ext cx="5328923" cy="98555"/>
            <a:chOff x="0" y="0"/>
            <a:chExt cx="7105231" cy="131407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105269" cy="131445"/>
            </a:xfrm>
            <a:custGeom>
              <a:avLst/>
              <a:gdLst/>
              <a:ahLst/>
              <a:cxnLst/>
              <a:rect r="r" b="b" t="t" l="l"/>
              <a:pathLst>
                <a:path h="131445" w="7105269">
                  <a:moveTo>
                    <a:pt x="0" y="0"/>
                  </a:moveTo>
                  <a:lnTo>
                    <a:pt x="7105269" y="0"/>
                  </a:lnTo>
                  <a:lnTo>
                    <a:pt x="7105269" y="131445"/>
                  </a:lnTo>
                  <a:lnTo>
                    <a:pt x="0" y="131445"/>
                  </a:lnTo>
                  <a:close/>
                </a:path>
              </a:pathLst>
            </a:custGeom>
            <a:solidFill>
              <a:srgbClr val="777777"/>
            </a:solidFill>
            <a:ln w="25400" cap="sq">
              <a:solidFill>
                <a:srgbClr val="777777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12344400" y="2852928"/>
            <a:ext cx="5303520" cy="621792"/>
            <a:chOff x="0" y="0"/>
            <a:chExt cx="7071360" cy="82905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071360" cy="829056"/>
            </a:xfrm>
            <a:custGeom>
              <a:avLst/>
              <a:gdLst/>
              <a:ahLst/>
              <a:cxnLst/>
              <a:rect r="r" b="b" t="t" l="l"/>
              <a:pathLst>
                <a:path h="829056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195" r="0" b="-116195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19050"/>
              <a:ext cx="7071360" cy="8481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CNN 1D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2344400" y="3584448"/>
            <a:ext cx="5303520" cy="768096"/>
            <a:chOff x="0" y="0"/>
            <a:chExt cx="7071360" cy="1024128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071360" cy="1024128"/>
            </a:xfrm>
            <a:custGeom>
              <a:avLst/>
              <a:gdLst/>
              <a:ahLst/>
              <a:cxnLst/>
              <a:rect r="r" b="b" t="t" l="l"/>
              <a:pathLst>
                <a:path h="1024128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539" r="0" b="-84539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9525"/>
              <a:ext cx="7071360" cy="10336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sz="4000" b="true">
                  <a:solidFill>
                    <a:srgbClr val="777777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Acc.  85,0 %</a:t>
              </a: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12344400" y="4451223"/>
            <a:ext cx="5303520" cy="1144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AAAAAA"/>
                </a:solidFill>
                <a:latin typeface="Calibri (MS)"/>
                <a:ea typeface="Calibri (MS)"/>
                <a:cs typeface="Calibri (MS)"/>
                <a:sym typeface="Calibri (MS)"/>
              </a:rPr>
              <a:t>Moins adapté —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AAAAAA"/>
                </a:solidFill>
                <a:latin typeface="Calibri (MS)"/>
                <a:ea typeface="Calibri (MS)"/>
                <a:cs typeface="Calibri (MS)"/>
                <a:sym typeface="Calibri (MS)"/>
              </a:rPr>
              <a:t>données sans structure séq.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993143" y="5949191"/>
            <a:ext cx="16301723" cy="43691"/>
            <a:chOff x="0" y="0"/>
            <a:chExt cx="21735631" cy="58255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1735669" cy="58293"/>
            </a:xfrm>
            <a:custGeom>
              <a:avLst/>
              <a:gdLst/>
              <a:ahLst/>
              <a:cxnLst/>
              <a:rect r="r" b="b" t="t" l="l"/>
              <a:pathLst>
                <a:path h="58293" w="21735669">
                  <a:moveTo>
                    <a:pt x="0" y="0"/>
                  </a:moveTo>
                  <a:lnTo>
                    <a:pt x="21735669" y="0"/>
                  </a:lnTo>
                  <a:lnTo>
                    <a:pt x="21735669" y="58293"/>
                  </a:lnTo>
                  <a:lnTo>
                    <a:pt x="0" y="58293"/>
                  </a:lnTo>
                  <a:close/>
                </a:path>
              </a:pathLst>
            </a:custGeom>
            <a:solidFill>
              <a:srgbClr val="DDDDDD"/>
            </a:solidFill>
            <a:ln w="25400" cap="sq">
              <a:solidFill>
                <a:srgbClr val="DDDDDD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1005840" y="6217920"/>
            <a:ext cx="3657600" cy="475488"/>
            <a:chOff x="0" y="0"/>
            <a:chExt cx="4876800" cy="633984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4876800" cy="633984"/>
            </a:xfrm>
            <a:custGeom>
              <a:avLst/>
              <a:gdLst/>
              <a:ahLst/>
              <a:cxnLst/>
              <a:rect r="r" b="b" t="t" l="l"/>
              <a:pathLst>
                <a:path h="633984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884" r="0" b="-99884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487680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74C69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Point clé</a:t>
              </a: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1005840" y="6728460"/>
            <a:ext cx="16276320" cy="1537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BBBBBB"/>
                </a:solidFill>
                <a:latin typeface="Calibri (MS)"/>
                <a:ea typeface="Calibri (MS)"/>
                <a:cs typeface="Calibri (MS)"/>
                <a:sym typeface="Calibri (MS)"/>
              </a:rPr>
              <a:t>Le déséquilibre 92/8 % est la difficulté centrale du projet. SMOTE l'atténue, mais le choix de la métrique (recall vs AUC) dépend de l'objectif métier. Prochaines étapes : XGBoost et ajustement du seuil de décision.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1005840" y="9418320"/>
            <a:ext cx="16276320" cy="512064"/>
            <a:chOff x="0" y="0"/>
            <a:chExt cx="21701760" cy="682752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1701761" cy="682752"/>
            </a:xfrm>
            <a:custGeom>
              <a:avLst/>
              <a:gdLst/>
              <a:ahLst/>
              <a:cxnLst/>
              <a:rect r="r" b="b" t="t" l="l"/>
              <a:pathLst>
                <a:path h="682752" w="21701761">
                  <a:moveTo>
                    <a:pt x="0" y="0"/>
                  </a:moveTo>
                  <a:lnTo>
                    <a:pt x="21701761" y="0"/>
                  </a:lnTo>
                  <a:lnTo>
                    <a:pt x="21701761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69345" r="0" b="-569345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47625"/>
              <a:ext cx="2170176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i="true">
                  <a:solidFill>
                    <a:srgbClr val="555555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Merci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DAHLpN2ZQXA</dc:identifier>
  <dcterms:modified xsi:type="dcterms:W3CDTF">2011-08-01T06:04:30Z</dcterms:modified>
  <cp:revision>1</cp:revision>
  <dc:title>presentation_finale_v3.pptx</dc:title>
</cp:coreProperties>
</file>